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1675"/>
  <p:notesSz cx="6858000" cy="9144000"/>
  <p:embeddedFontLs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gwPUTxTg939oCmtDZaJE5dr20s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8CE866-06C7-4EB9-BF03-82C2025FFE2A}">
  <a:tblStyle styleId="{4F8CE866-06C7-4EB9-BF03-82C2025FFE2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gif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gif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8D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in_hd_light.gif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724" y="1371600"/>
            <a:ext cx="4475205" cy="379970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411480" y="411480"/>
            <a:ext cx="6172200" cy="5806500"/>
          </a:xfrm>
          <a:prstGeom prst="roundRect">
            <a:avLst>
              <a:gd fmla="val 2519" name="adj"/>
            </a:avLst>
          </a:prstGeom>
          <a:solidFill>
            <a:srgbClr val="FFFDF3">
              <a:alpha val="85882"/>
            </a:srgbClr>
          </a:solidFill>
          <a:ln cap="flat" cmpd="sng" w="9525">
            <a:solidFill>
              <a:srgbClr val="CCD5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77240" y="14630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6622E"/>
                </a:solidFill>
                <a:latin typeface="Arial"/>
                <a:ea typeface="Arial"/>
                <a:cs typeface="Arial"/>
                <a:sym typeface="Arial"/>
              </a:rPr>
              <a:t>EEG-TO-VIDEO RETRIEVAL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777240" y="1783080"/>
            <a:ext cx="56692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See what the brain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96622E"/>
                </a:solidFill>
                <a:latin typeface="Arial"/>
                <a:ea typeface="Arial"/>
                <a:cs typeface="Arial"/>
                <a:sym typeface="Arial"/>
              </a:rPr>
              <a:t>watched.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77240" y="338328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From three seconds of EEG over the visual cortex, NeuroBytes ranks 102 candidate videos and finds the one the person was watching. </a:t>
            </a:r>
            <a:r>
              <a:rPr lang="en-US">
                <a:solidFill>
                  <a:srgbClr val="5B6635"/>
                </a:solidFill>
              </a:rPr>
              <a:t>The model never sees which video was watched: it compares the brain activity with the 102 candidate videos.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777240" y="4507992"/>
            <a:ext cx="36576" cy="868680"/>
          </a:xfrm>
          <a:prstGeom prst="rect">
            <a:avLst/>
          </a:prstGeom>
          <a:solidFill>
            <a:srgbClr val="8899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41832" y="4434840"/>
            <a:ext cx="16642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36.0%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top‑1, chance 0.98%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2651760" y="4507992"/>
            <a:ext cx="36576" cy="868680"/>
          </a:xfrm>
          <a:prstGeom prst="rect">
            <a:avLst/>
          </a:prstGeom>
          <a:solidFill>
            <a:srgbClr val="8899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16352" y="4434840"/>
            <a:ext cx="16642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67.2%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top‑5, chance 4.9%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4526280" y="4507992"/>
            <a:ext cx="36576" cy="868680"/>
          </a:xfrm>
          <a:prstGeom prst="rect">
            <a:avLst/>
          </a:prstGeom>
          <a:solidFill>
            <a:srgbClr val="8899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690872" y="4434840"/>
            <a:ext cx="166420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5.99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mean rank of 102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777240" y="5527146"/>
            <a:ext cx="5577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Sushruth Shivaraju and Ayush Shetty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SchubKI National AI Hackathon 2026, EEG mind-reading challenge (Constructor Technology)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11046668" y="6400800"/>
            <a:ext cx="474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lang="en-US" sz="1000">
                <a:solidFill>
                  <a:srgbClr val="5B6635"/>
                </a:solidFill>
              </a:rPr>
              <a:t>7</a:t>
            </a:r>
            <a:endParaRPr/>
          </a:p>
        </p:txBody>
      </p:sp>
      <p:grpSp>
        <p:nvGrpSpPr>
          <p:cNvPr id="98" name="Google Shape;98;p1"/>
          <p:cNvGrpSpPr/>
          <p:nvPr/>
        </p:nvGrpSpPr>
        <p:grpSpPr>
          <a:xfrm>
            <a:off x="888153" y="749275"/>
            <a:ext cx="5128921" cy="497853"/>
            <a:chOff x="888153" y="749275"/>
            <a:chExt cx="5128921" cy="497853"/>
          </a:xfrm>
        </p:grpSpPr>
        <p:sp>
          <p:nvSpPr>
            <p:cNvPr id="99" name="Google Shape;99;p1"/>
            <p:cNvSpPr txBox="1"/>
            <p:nvPr/>
          </p:nvSpPr>
          <p:spPr>
            <a:xfrm>
              <a:off x="1385973" y="803200"/>
              <a:ext cx="46311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rgbClr val="2D331A"/>
                  </a:solidFill>
                  <a:latin typeface="Inter"/>
                  <a:ea typeface="Inter"/>
                  <a:cs typeface="Inter"/>
                  <a:sym typeface="Inter"/>
                </a:rPr>
                <a:t>NEUROBYTES </a:t>
              </a:r>
              <a:endParaRPr b="1" sz="1300"/>
            </a:p>
          </p:txBody>
        </p:sp>
        <p:pic>
          <p:nvPicPr>
            <p:cNvPr id="100" name="Google Shape;100;p1" title="logo-light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8153" y="749275"/>
              <a:ext cx="497825" cy="4978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"/>
          <p:cNvSpPr txBox="1"/>
          <p:nvPr/>
        </p:nvSpPr>
        <p:spPr>
          <a:xfrm>
            <a:off x="3804852" y="763686"/>
            <a:ext cx="1360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D331A"/>
                </a:solidFill>
                <a:latin typeface="Inter"/>
                <a:ea typeface="Inter"/>
                <a:cs typeface="Inter"/>
                <a:sym typeface="Inter"/>
              </a:rPr>
              <a:t>BY </a:t>
            </a:r>
            <a:endParaRPr b="1" sz="1300">
              <a:solidFill>
                <a:srgbClr val="2D33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D331A"/>
                </a:solidFill>
                <a:latin typeface="Inter"/>
                <a:ea typeface="Inter"/>
                <a:cs typeface="Inter"/>
                <a:sym typeface="Inter"/>
              </a:rPr>
              <a:t>TEAM </a:t>
            </a:r>
            <a:r>
              <a:rPr b="1" lang="en-US" sz="1500">
                <a:solidFill>
                  <a:srgbClr val="7F6000"/>
                </a:solidFill>
                <a:latin typeface="Inter"/>
                <a:ea typeface="Inter"/>
                <a:cs typeface="Inter"/>
                <a:sym typeface="Inter"/>
              </a:rPr>
              <a:t>BIERBYTES</a:t>
            </a:r>
            <a:endParaRPr b="1" sz="1600">
              <a:solidFill>
                <a:srgbClr val="7F6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EFAE0"/>
            </a:gs>
            <a:gs pos="60000">
              <a:srgbClr val="FFFDF3"/>
            </a:gs>
            <a:gs pos="100000">
              <a:srgbClr val="E9EDC9"/>
            </a:gs>
          </a:gsLst>
          <a:lin ang="3600000" scaled="0"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10652760" y="33832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NeuroBytes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1174442" y="6400800"/>
            <a:ext cx="347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2 / </a:t>
            </a:r>
            <a:r>
              <a:rPr lang="en-US" sz="1000">
                <a:solidFill>
                  <a:srgbClr val="5B6635"/>
                </a:solidFill>
              </a:rPr>
              <a:t>7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685800" y="5029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6622E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685800" y="777240"/>
            <a:ext cx="6309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3 seconds of brain activity</a:t>
            </a:r>
            <a:r>
              <a:rPr b="1" lang="en-US" sz="3000">
                <a:solidFill>
                  <a:srgbClr val="2D331A"/>
                </a:solidFill>
              </a:rPr>
              <a:t>,</a:t>
            </a:r>
            <a:endParaRPr/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102 possible videos. 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685800" y="2587752"/>
            <a:ext cx="36576" cy="868680"/>
          </a:xfrm>
          <a:prstGeom prst="rect">
            <a:avLst/>
          </a:prstGeom>
          <a:solidFill>
            <a:srgbClr val="8899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850392" y="2514600"/>
            <a:ext cx="27614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3 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of EEG per recording, while a clip plays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3749040" y="2587752"/>
            <a:ext cx="36576" cy="868680"/>
          </a:xfrm>
          <a:prstGeom prst="rect">
            <a:avLst/>
          </a:prstGeom>
          <a:solidFill>
            <a:srgbClr val="8899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3913632" y="2514600"/>
            <a:ext cx="27614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posterior channels over the visual cortex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685800" y="3822192"/>
            <a:ext cx="36576" cy="868680"/>
          </a:xfrm>
          <a:prstGeom prst="rect">
            <a:avLst/>
          </a:prstGeom>
          <a:solidFill>
            <a:srgbClr val="8899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50392" y="3749040"/>
            <a:ext cx="27614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candidate videos to rank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3749040" y="3822192"/>
            <a:ext cx="36576" cy="868680"/>
          </a:xfrm>
          <a:prstGeom prst="rect">
            <a:avLst/>
          </a:prstGeom>
          <a:solidFill>
            <a:srgbClr val="8899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913632" y="3749040"/>
            <a:ext cx="27614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408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development recordings, sub‑01..04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685800" y="5029200"/>
            <a:ext cx="5943600" cy="1143000"/>
          </a:xfrm>
          <a:prstGeom prst="roundRect">
            <a:avLst>
              <a:gd fmla="val 12800" name="adj"/>
            </a:avLst>
          </a:prstGeom>
          <a:solidFill>
            <a:srgbClr val="FFFDF3">
              <a:alpha val="85882"/>
            </a:srgbClr>
          </a:solidFill>
          <a:ln cap="flat" cmpd="sng" w="9525">
            <a:solidFill>
              <a:srgbClr val="CCD5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868680" y="5138928"/>
            <a:ext cx="5577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Chance level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top‑1 0.98%  |  top‑5 4.90%  |  mean rank 51.5 of 102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Data: </a:t>
            </a:r>
            <a:r>
              <a:rPr lang="en-US" sz="1100">
                <a:solidFill>
                  <a:srgbClr val="5B6635"/>
                </a:solidFill>
              </a:rPr>
              <a:t>organizers' EEG Datasets</a:t>
            </a:r>
            <a:r>
              <a:rPr b="0" i="0" lang="en-US" sz="11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, 6 people, </a:t>
            </a:r>
            <a:r>
              <a:rPr lang="en-US" sz="1100">
                <a:solidFill>
                  <a:srgbClr val="5B6635"/>
                </a:solidFill>
              </a:rPr>
              <a:t>850-970</a:t>
            </a:r>
            <a:r>
              <a:rPr b="0" i="0" lang="en-US" sz="11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 training clips each.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7178040" y="2255996"/>
            <a:ext cx="4434840" cy="2574608"/>
          </a:xfrm>
          <a:prstGeom prst="roundRect">
            <a:avLst>
              <a:gd fmla="val 5682" name="adj"/>
            </a:avLst>
          </a:prstGeom>
          <a:solidFill>
            <a:srgbClr val="FFFDF3"/>
          </a:solidFill>
          <a:ln cap="flat" cmpd="sng" w="12700">
            <a:solidFill>
              <a:srgbClr val="ACBB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me_hero.png" id="122" name="Google Shape;12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0" y="2347436"/>
            <a:ext cx="4251960" cy="2391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" title="logo-ligh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9975" y="208150"/>
            <a:ext cx="422774" cy="42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EFAE0"/>
            </a:gs>
            <a:gs pos="60000">
              <a:srgbClr val="FFFDF3"/>
            </a:gs>
            <a:gs pos="100000">
              <a:srgbClr val="E9EDC9"/>
            </a:gs>
          </a:gsLst>
          <a:lin ang="3600000" scaled="0"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/>
        </p:nvSpPr>
        <p:spPr>
          <a:xfrm>
            <a:off x="9692640" y="64008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lang="en-US" sz="1000">
                <a:solidFill>
                  <a:srgbClr val="5B6635"/>
                </a:solidFill>
              </a:rPr>
              <a:t>7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685800" y="5029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6622E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685800" y="7772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Three seconds, </a:t>
            </a:r>
            <a:r>
              <a:rPr b="1" i="0" lang="en-US" sz="3600" u="none" cap="none" strike="noStrike">
                <a:solidFill>
                  <a:srgbClr val="96622E"/>
                </a:solidFill>
                <a:latin typeface="Arial"/>
                <a:ea typeface="Arial"/>
                <a:cs typeface="Arial"/>
                <a:sym typeface="Arial"/>
              </a:rPr>
              <a:t>five steps.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932688" y="1828800"/>
            <a:ext cx="27432" cy="3657600"/>
          </a:xfrm>
          <a:prstGeom prst="rect">
            <a:avLst/>
          </a:prstGeom>
          <a:solidFill>
            <a:srgbClr val="ACBB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85800" y="1691640"/>
            <a:ext cx="530352" cy="530352"/>
          </a:xfrm>
          <a:prstGeom prst="ellipse">
            <a:avLst/>
          </a:prstGeom>
          <a:gradFill>
            <a:gsLst>
              <a:gs pos="0">
                <a:srgbClr val="88994F"/>
              </a:gs>
              <a:gs pos="100000">
                <a:srgbClr val="96622E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685800" y="169164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EFAE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1417320" y="1673352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Record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3 s of EEG while a clip plays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685800" y="2478024"/>
            <a:ext cx="530352" cy="530352"/>
          </a:xfrm>
          <a:prstGeom prst="ellipse">
            <a:avLst/>
          </a:prstGeom>
          <a:gradFill>
            <a:gsLst>
              <a:gs pos="0">
                <a:srgbClr val="88994F"/>
              </a:gs>
              <a:gs pos="100000">
                <a:srgbClr val="96622E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685800" y="2478024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EFAE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417320" y="2459736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0 to 700 ms after the clip starts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685800" y="3264408"/>
            <a:ext cx="530352" cy="530352"/>
          </a:xfrm>
          <a:prstGeom prst="ellipse">
            <a:avLst/>
          </a:prstGeom>
          <a:gradFill>
            <a:gsLst>
              <a:gs pos="0">
                <a:srgbClr val="88994F"/>
              </a:gs>
              <a:gs pos="100000">
                <a:srgbClr val="96622E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685800" y="326440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EFAE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1417320" y="324612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Decode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EEG to V-JEPA, CLIP, DINOv2, audio features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685800" y="4050792"/>
            <a:ext cx="530352" cy="530352"/>
          </a:xfrm>
          <a:prstGeom prst="ellipse">
            <a:avLst/>
          </a:prstGeom>
          <a:gradFill>
            <a:gsLst>
              <a:gs pos="0">
                <a:srgbClr val="88994F"/>
              </a:gs>
              <a:gs pos="100000">
                <a:srgbClr val="96622E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685800" y="4050792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EFAE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1417320" y="4032504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Fuse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rank fusion of ~</a:t>
            </a:r>
            <a:r>
              <a:rPr lang="en-US" sz="1200">
                <a:solidFill>
                  <a:srgbClr val="5B6635"/>
                </a:solidFill>
              </a:rPr>
              <a:t>590</a:t>
            </a: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 scorers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685800" y="4837176"/>
            <a:ext cx="530352" cy="530352"/>
          </a:xfrm>
          <a:prstGeom prst="ellipse">
            <a:avLst/>
          </a:prstGeom>
          <a:gradFill>
            <a:gsLst>
              <a:gs pos="0">
                <a:srgbClr val="88994F"/>
              </a:gs>
              <a:gs pos="100000">
                <a:srgbClr val="96622E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685800" y="483717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EFAE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1417320" y="4818888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CSLS hub removal + Sinkhorn</a:t>
            </a:r>
            <a:endParaRPr/>
          </a:p>
        </p:txBody>
      </p:sp>
      <p:pic>
        <p:nvPicPr>
          <p:cNvPr descr="flow_light.gif" id="148" name="Google Shape;148;p3"/>
          <p:cNvPicPr preferRelativeResize="0"/>
          <p:nvPr/>
        </p:nvPicPr>
        <p:blipFill rotWithShape="1">
          <a:blip r:embed="rId3">
            <a:alphaModFix/>
          </a:blip>
          <a:srcRect b="46" l="0" r="0" t="46"/>
          <a:stretch/>
        </p:blipFill>
        <p:spPr>
          <a:xfrm>
            <a:off x="5897282" y="1914371"/>
            <a:ext cx="5532122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"/>
          <p:cNvSpPr/>
          <p:nvPr/>
        </p:nvSpPr>
        <p:spPr>
          <a:xfrm>
            <a:off x="5805842" y="1869505"/>
            <a:ext cx="5715000" cy="3291900"/>
          </a:xfrm>
          <a:prstGeom prst="roundRect">
            <a:avLst>
              <a:gd fmla="val 4444" name="adj"/>
            </a:avLst>
          </a:prstGeom>
          <a:noFill/>
          <a:ln cap="flat" cmpd="sng" w="12700">
            <a:solidFill>
              <a:srgbClr val="ACBB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35899" y="5678175"/>
            <a:ext cx="2787300" cy="530400"/>
          </a:xfrm>
          <a:prstGeom prst="roundRect">
            <a:avLst>
              <a:gd fmla="val 12307" name="adj"/>
            </a:avLst>
          </a:prstGeom>
          <a:solidFill>
            <a:srgbClr val="FFFDF3">
              <a:alpha val="85880"/>
            </a:srgbClr>
          </a:solidFill>
          <a:ln cap="flat" cmpd="sng" w="11950">
            <a:solidFill>
              <a:srgbClr val="CCD5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350" lIns="114700" spcFirstLastPara="1" rIns="114700" wrap="square" tIns="57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865351" y="5792905"/>
            <a:ext cx="25659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6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r>
              <a:rPr b="1" lang="en-US" sz="1506">
                <a:solidFill>
                  <a:srgbClr val="2D331A"/>
                </a:solidFill>
              </a:rPr>
              <a:t> Pipeline: </a:t>
            </a:r>
            <a:r>
              <a:rPr b="0" i="0" lang="en-US" sz="1255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C13 </a:t>
            </a:r>
            <a:endParaRPr sz="1757"/>
          </a:p>
        </p:txBody>
      </p:sp>
      <p:sp>
        <p:nvSpPr>
          <p:cNvPr id="152" name="Google Shape;152;p3"/>
          <p:cNvSpPr txBox="1"/>
          <p:nvPr/>
        </p:nvSpPr>
        <p:spPr>
          <a:xfrm>
            <a:off x="10652760" y="338328"/>
            <a:ext cx="164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NeuroBytes</a:t>
            </a:r>
            <a:endParaRPr/>
          </a:p>
        </p:txBody>
      </p:sp>
      <p:pic>
        <p:nvPicPr>
          <p:cNvPr id="153" name="Google Shape;153;p3" title="logo-ligh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9975" y="208150"/>
            <a:ext cx="422774" cy="42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EFAE0"/>
            </a:gs>
            <a:gs pos="60000">
              <a:srgbClr val="FFFDF3"/>
            </a:gs>
            <a:gs pos="100000">
              <a:srgbClr val="E9EDC9"/>
            </a:gs>
          </a:gsLst>
          <a:lin ang="3600000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/>
        </p:nvSpPr>
        <p:spPr>
          <a:xfrm>
            <a:off x="11098667" y="6400800"/>
            <a:ext cx="422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B6635"/>
                </a:solidFill>
              </a:rPr>
              <a:t>4</a:t>
            </a:r>
            <a:r>
              <a:rPr b="0" i="0" lang="en-US" sz="10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1000">
                <a:solidFill>
                  <a:srgbClr val="5B6635"/>
                </a:solidFill>
              </a:rPr>
              <a:t>7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685800" y="5029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6622E"/>
                </a:solidFill>
                <a:latin typeface="Arial"/>
                <a:ea typeface="Arial"/>
                <a:cs typeface="Arial"/>
                <a:sym typeface="Arial"/>
              </a:rPr>
              <a:t>THE ANALYSIS SCREEN</a:t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544638" y="987750"/>
            <a:ext cx="11102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D331A"/>
                </a:solidFill>
              </a:rPr>
              <a:t>Select a subject and recording to view the score breakdown</a:t>
            </a:r>
            <a:r>
              <a:rPr b="1" lang="en-US" sz="3000">
                <a:solidFill>
                  <a:srgbClr val="2D331A"/>
                </a:solidFill>
              </a:rPr>
              <a:t>.</a:t>
            </a:r>
            <a:endParaRPr sz="1200"/>
          </a:p>
        </p:txBody>
      </p:sp>
      <p:sp>
        <p:nvSpPr>
          <p:cNvPr id="162" name="Google Shape;162;p7"/>
          <p:cNvSpPr/>
          <p:nvPr/>
        </p:nvSpPr>
        <p:spPr>
          <a:xfrm>
            <a:off x="786690" y="1807802"/>
            <a:ext cx="6360300" cy="3657600"/>
          </a:xfrm>
          <a:prstGeom prst="roundRect">
            <a:avLst>
              <a:gd fmla="val 4000" name="adj"/>
            </a:avLst>
          </a:prstGeom>
          <a:solidFill>
            <a:srgbClr val="FFFDF3"/>
          </a:solidFill>
          <a:ln cap="flat" cmpd="sng" w="12700">
            <a:solidFill>
              <a:srgbClr val="ACBB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nalysis_top.png"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130" y="1899242"/>
            <a:ext cx="6177278" cy="347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8278604" y="1807802"/>
            <a:ext cx="2669100" cy="1783200"/>
          </a:xfrm>
          <a:prstGeom prst="roundRect">
            <a:avLst>
              <a:gd fmla="val 8205" name="adj"/>
            </a:avLst>
          </a:prstGeom>
          <a:solidFill>
            <a:srgbClr val="FFFDF3"/>
          </a:solidFill>
          <a:ln cap="flat" cmpd="sng" w="12700">
            <a:solidFill>
              <a:srgbClr val="ACBB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nalysis_hist_card.png" id="165" name="Google Shape;1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0044" y="1899242"/>
            <a:ext cx="2486292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/>
          <p:nvPr/>
        </p:nvSpPr>
        <p:spPr>
          <a:xfrm>
            <a:off x="8276735" y="3682322"/>
            <a:ext cx="2673000" cy="1783200"/>
          </a:xfrm>
          <a:prstGeom prst="roundRect">
            <a:avLst>
              <a:gd fmla="val 8205" name="adj"/>
            </a:avLst>
          </a:prstGeom>
          <a:solidFill>
            <a:srgbClr val="FFFDF3"/>
          </a:solidFill>
          <a:ln cap="flat" cmpd="sng" w="12700">
            <a:solidFill>
              <a:srgbClr val="ACBB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nalysis_person_card.png" id="167" name="Google Shape;16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8175" y="3773762"/>
            <a:ext cx="2490031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 txBox="1"/>
          <p:nvPr/>
        </p:nvSpPr>
        <p:spPr>
          <a:xfrm>
            <a:off x="640063" y="5793372"/>
            <a:ext cx="108813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Predicted video</a:t>
            </a: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 with the true clip highlighted.  </a:t>
            </a:r>
            <a:r>
              <a:rPr b="1" i="0" lang="en-US" sz="12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Top 5</a:t>
            </a: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 with Qwen2.5-VL captions (display only, not used for ranking).  </a:t>
            </a:r>
            <a:r>
              <a:rPr b="1" i="0" lang="en-US" sz="12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Per-person ranks</a:t>
            </a: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 from the same 408 recordings.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10652760" y="338328"/>
            <a:ext cx="164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NeuroBytes</a:t>
            </a:r>
            <a:endParaRPr/>
          </a:p>
        </p:txBody>
      </p:sp>
      <p:pic>
        <p:nvPicPr>
          <p:cNvPr id="170" name="Google Shape;170;p7" title="logo-ligh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29975" y="208150"/>
            <a:ext cx="422774" cy="42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EFAE0"/>
            </a:gs>
            <a:gs pos="60000">
              <a:srgbClr val="FFFDF3"/>
            </a:gs>
            <a:gs pos="100000">
              <a:srgbClr val="E9EDC9"/>
            </a:gs>
          </a:gsLst>
          <a:lin ang="3600000" scaled="0"/>
        </a:gra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/>
        </p:nvSpPr>
        <p:spPr>
          <a:xfrm>
            <a:off x="9692640" y="64008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B6635"/>
                </a:solidFill>
              </a:rPr>
              <a:t>5</a:t>
            </a:r>
            <a:r>
              <a:rPr b="0" i="0" lang="en-US" sz="10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1000">
                <a:solidFill>
                  <a:srgbClr val="5B6635"/>
                </a:solidFill>
              </a:rPr>
              <a:t>7</a:t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685800" y="5029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6622E"/>
                </a:solidFill>
                <a:latin typeface="Arial"/>
                <a:ea typeface="Arial"/>
                <a:cs typeface="Arial"/>
                <a:sym typeface="Arial"/>
              </a:rPr>
              <a:t>FREQUENCY AND EEG</a:t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685800" y="777240"/>
            <a:ext cx="9144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Look at the right moment.</a:t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754880" y="1694483"/>
            <a:ext cx="6858000" cy="2188875"/>
          </a:xfrm>
          <a:prstGeom prst="roundRect">
            <a:avLst>
              <a:gd fmla="val 6683" name="adj"/>
            </a:avLst>
          </a:prstGeom>
          <a:solidFill>
            <a:srgbClr val="FFFDF3"/>
          </a:solidFill>
          <a:ln cap="flat" cmpd="sng" w="12700">
            <a:solidFill>
              <a:srgbClr val="ACBB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nalysis_freq_card.png" id="180" name="Google Shape;1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0" y="1785923"/>
            <a:ext cx="6675120" cy="200599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/>
          <p:nvPr/>
        </p:nvSpPr>
        <p:spPr>
          <a:xfrm>
            <a:off x="5101582" y="4023360"/>
            <a:ext cx="6164596" cy="2286000"/>
          </a:xfrm>
          <a:prstGeom prst="roundRect">
            <a:avLst>
              <a:gd fmla="val 6400" name="adj"/>
            </a:avLst>
          </a:prstGeom>
          <a:solidFill>
            <a:srgbClr val="FFFDF3"/>
          </a:solidFill>
          <a:ln cap="flat" cmpd="sng" w="12700">
            <a:solidFill>
              <a:srgbClr val="ACBB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nalysis_eeg_card.png" id="182" name="Google Shape;1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3022" y="4114800"/>
            <a:ext cx="5981716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 txBox="1"/>
          <p:nvPr/>
        </p:nvSpPr>
        <p:spPr>
          <a:xfrm>
            <a:off x="685800" y="1783080"/>
            <a:ext cx="37947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2D331A"/>
                </a:solidFill>
              </a:rPr>
              <a:t>Each recording is 3 seconds long, but almost everything that identifies the video arrives</a:t>
            </a:r>
            <a:endParaRPr>
              <a:solidFill>
                <a:srgbClr val="2D331A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D331A"/>
                </a:solidFill>
              </a:rPr>
              <a:t>in the first fraction of a second.</a:t>
            </a:r>
            <a:endParaRPr>
              <a:solidFill>
                <a:srgbClr val="2D331A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D331A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The decodable signal sits in the </a:t>
            </a:r>
            <a:r>
              <a:rPr b="1" i="0" lang="en-US" sz="1300" u="none" cap="none" strike="noStrike">
                <a:solidFill>
                  <a:srgbClr val="5B6635"/>
                </a:solidFill>
              </a:rPr>
              <a:t>first 800 ms</a:t>
            </a:r>
            <a:r>
              <a:rPr b="0" i="0" lang="en-US" sz="13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, the classic visual ERP window: P1 (about 80 to 130 ms), N1 (about 120 to 200 ms), object categories from 130 to 170 ms, peaking at the N170.</a:t>
            </a:r>
            <a:endParaRPr b="0" i="0" sz="1300" u="none" cap="none" strike="noStrike">
              <a:solidFill>
                <a:srgbClr val="5B66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B6635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B6635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The biggest win came from knowing when to look, not from a bigger video model.</a:t>
            </a:r>
            <a:endParaRPr sz="1500"/>
          </a:p>
        </p:txBody>
      </p:sp>
      <p:sp>
        <p:nvSpPr>
          <p:cNvPr id="184" name="Google Shape;184;p8"/>
          <p:cNvSpPr txBox="1"/>
          <p:nvPr/>
        </p:nvSpPr>
        <p:spPr>
          <a:xfrm>
            <a:off x="10652760" y="338328"/>
            <a:ext cx="164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NeuroBytes</a:t>
            </a:r>
            <a:endParaRPr/>
          </a:p>
        </p:txBody>
      </p:sp>
      <p:pic>
        <p:nvPicPr>
          <p:cNvPr id="185" name="Google Shape;185;p8" title="logo-ligh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29975" y="208150"/>
            <a:ext cx="422774" cy="42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EFAE0"/>
            </a:gs>
            <a:gs pos="60000">
              <a:srgbClr val="FFFDF3"/>
            </a:gs>
            <a:gs pos="100000">
              <a:srgbClr val="E9EDC9"/>
            </a:gs>
          </a:gsLst>
          <a:lin ang="3600008" scaled="0"/>
        </a:gra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/>
        </p:nvSpPr>
        <p:spPr>
          <a:xfrm>
            <a:off x="11197667" y="6400800"/>
            <a:ext cx="32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B6635"/>
                </a:solidFill>
              </a:rPr>
              <a:t>6</a:t>
            </a:r>
            <a:r>
              <a:rPr b="0" i="0" lang="en-US" sz="10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1000">
                <a:solidFill>
                  <a:srgbClr val="5B6635"/>
                </a:solidFill>
              </a:rPr>
              <a:t>7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685800" y="502920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6622E"/>
                </a:solidFill>
                <a:latin typeface="Arial"/>
                <a:ea typeface="Arial"/>
                <a:cs typeface="Arial"/>
                <a:sym typeface="Arial"/>
              </a:rPr>
              <a:t>ROBUSTNESS AND HONESTY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685800" y="777240"/>
            <a:ext cx="9144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What holds, and what we disclose.</a:t>
            </a:r>
            <a:endParaRPr/>
          </a:p>
        </p:txBody>
      </p:sp>
      <p:graphicFrame>
        <p:nvGraphicFramePr>
          <p:cNvPr id="194" name="Google Shape;194;p9"/>
          <p:cNvGraphicFramePr/>
          <p:nvPr/>
        </p:nvGraphicFramePr>
        <p:xfrm>
          <a:off x="685800" y="1737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{4F8CE866-06C7-4EB9-BF03-82C2025FFE2A}</a:tableStyleId>
              </a:tblPr>
              <a:tblGrid>
                <a:gridCol w="3017525"/>
                <a:gridCol w="1005850"/>
                <a:gridCol w="1005850"/>
                <a:gridCol w="10058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D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Top-1 %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D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Top-5 %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D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 rank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DC9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 C13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36.03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67.16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5.99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DF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Without Sinkhorn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1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32.35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1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66.67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1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6.34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1D4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seeds 5-9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34.31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67.65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5.98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DF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Cross-validation (held-out training videos)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1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14.95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1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39.67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1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2D33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16.85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DF1D4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B66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B66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B66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4.90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5B663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51.5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DF3"/>
                    </a:solidFill>
                  </a:tcPr>
                </a:tc>
              </a:tr>
            </a:tbl>
          </a:graphicData>
        </a:graphic>
      </p:graphicFrame>
      <p:sp>
        <p:nvSpPr>
          <p:cNvPr id="195" name="Google Shape;195;p9"/>
          <p:cNvSpPr txBox="1"/>
          <p:nvPr/>
        </p:nvSpPr>
        <p:spPr>
          <a:xfrm>
            <a:off x="685800" y="4937760"/>
            <a:ext cx="60351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Same-seed rebuild is bit-identical.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Mean rank 6.00 on the CPU/Docker path. Validation uses held-out training videos and is a harder, different split.</a:t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7040880" y="1737360"/>
            <a:ext cx="4572000" cy="4480500"/>
          </a:xfrm>
          <a:prstGeom prst="roundRect">
            <a:avLst>
              <a:gd fmla="val 3265" name="adj"/>
            </a:avLst>
          </a:prstGeom>
          <a:solidFill>
            <a:srgbClr val="FFFDF3">
              <a:alpha val="85880"/>
            </a:srgbClr>
          </a:solidFill>
          <a:ln cap="flat" cmpd="sng" w="9525">
            <a:solidFill>
              <a:srgbClr val="CCD5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7269480" y="1874520"/>
            <a:ext cx="4160400" cy="4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Disclosures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• Development labels (sub‑01..04) were used to report results and to compare final candidates.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150">
                <a:solidFill>
                  <a:srgbClr val="5B6635"/>
                </a:solidFill>
              </a:rPr>
              <a:t>EEG z-score statistics were fitted on all of a participant's training recordings, including validation folds (no labels, no test data).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• CSLS and Sinkhorn are </a:t>
            </a:r>
            <a:r>
              <a:rPr lang="en-US" sz="1150">
                <a:solidFill>
                  <a:srgbClr val="5B6635"/>
                </a:solidFill>
              </a:rPr>
              <a:t>batch post-processing over each participant's test recordings; a no-Sinkhorn fallback exists (it still applies CSLS).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• Qwen2.5-VL captions are display only and do not affect the ranking.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• Ranking among 102 known candidates, not unrestricted mind reading.</a:t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10652760" y="338328"/>
            <a:ext cx="164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NeuroBytes</a:t>
            </a:r>
            <a:endParaRPr/>
          </a:p>
        </p:txBody>
      </p:sp>
      <p:pic>
        <p:nvPicPr>
          <p:cNvPr id="199" name="Google Shape;199;p9" title="logo-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9975" y="208150"/>
            <a:ext cx="422774" cy="42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/>
          <p:nvPr/>
        </p:nvSpPr>
        <p:spPr>
          <a:xfrm>
            <a:off x="411480" y="411480"/>
            <a:ext cx="6172200" cy="5806500"/>
          </a:xfrm>
          <a:prstGeom prst="roundRect">
            <a:avLst>
              <a:gd fmla="val 2519" name="adj"/>
            </a:avLst>
          </a:prstGeom>
          <a:solidFill>
            <a:srgbClr val="FFFDF3">
              <a:alpha val="85880"/>
            </a:srgbClr>
          </a:solidFill>
          <a:ln cap="flat" cmpd="sng" w="9525">
            <a:solidFill>
              <a:srgbClr val="CCD5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777240" y="155448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777240" y="2514600"/>
            <a:ext cx="5486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Three seconds of EEG, 102 candidates: the right video first 36.0% of the time, in the top 5 67.2% of the time.</a:t>
            </a:r>
            <a:endParaRPr/>
          </a:p>
        </p:txBody>
      </p:sp>
      <p:sp>
        <p:nvSpPr>
          <p:cNvPr id="208" name="Google Shape;208;p10"/>
          <p:cNvSpPr txBox="1"/>
          <p:nvPr/>
        </p:nvSpPr>
        <p:spPr>
          <a:xfrm>
            <a:off x="777240" y="3429000"/>
            <a:ext cx="54864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Code  </a:t>
            </a:r>
            <a:r>
              <a:rPr b="1" i="0" lang="en-US" sz="14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github.com/Sushruths04/neurobytes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Weights  </a:t>
            </a:r>
            <a:r>
              <a:rPr b="1" i="0" lang="en-US" sz="14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release v1.0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Docker  </a:t>
            </a:r>
            <a:r>
              <a:rPr b="1" i="0" lang="en-US" sz="14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ghcr.io/sushruths04/neurobytes</a:t>
            </a:r>
            <a:endParaRPr/>
          </a:p>
        </p:txBody>
      </p:sp>
      <p:sp>
        <p:nvSpPr>
          <p:cNvPr id="209" name="Google Shape;209;p10"/>
          <p:cNvSpPr txBox="1"/>
          <p:nvPr/>
        </p:nvSpPr>
        <p:spPr>
          <a:xfrm>
            <a:off x="777240" y="5257800"/>
            <a:ext cx="5577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Sushruth Shivaraju and Ayush Shetty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SchubKI National AI Hackathon 2026, EEG mind-reading challenge (Constructor Technology)</a:t>
            </a:r>
            <a:endParaRPr/>
          </a:p>
        </p:txBody>
      </p:sp>
      <p:sp>
        <p:nvSpPr>
          <p:cNvPr id="210" name="Google Shape;210;p10"/>
          <p:cNvSpPr txBox="1"/>
          <p:nvPr/>
        </p:nvSpPr>
        <p:spPr>
          <a:xfrm>
            <a:off x="9692640" y="6400800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B6635"/>
                </a:solidFill>
              </a:rPr>
              <a:t>7</a:t>
            </a:r>
            <a:r>
              <a:rPr b="0" i="0" lang="en-US" sz="10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1000">
                <a:solidFill>
                  <a:srgbClr val="5B6635"/>
                </a:solidFill>
              </a:rPr>
              <a:t>7</a:t>
            </a:r>
            <a:endParaRPr/>
          </a:p>
        </p:txBody>
      </p:sp>
      <p:grpSp>
        <p:nvGrpSpPr>
          <p:cNvPr id="211" name="Google Shape;211;p10"/>
          <p:cNvGrpSpPr/>
          <p:nvPr/>
        </p:nvGrpSpPr>
        <p:grpSpPr>
          <a:xfrm>
            <a:off x="888153" y="749275"/>
            <a:ext cx="3154025" cy="497853"/>
            <a:chOff x="888153" y="749275"/>
            <a:chExt cx="3154025" cy="497853"/>
          </a:xfrm>
        </p:grpSpPr>
        <p:sp>
          <p:nvSpPr>
            <p:cNvPr id="212" name="Google Shape;212;p10"/>
            <p:cNvSpPr txBox="1"/>
            <p:nvPr/>
          </p:nvSpPr>
          <p:spPr>
            <a:xfrm>
              <a:off x="1385978" y="803200"/>
              <a:ext cx="26562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00" u="none" cap="none" strike="noStrike">
                  <a:solidFill>
                    <a:srgbClr val="2D331A"/>
                  </a:solidFill>
                  <a:latin typeface="Inter"/>
                  <a:ea typeface="Inter"/>
                  <a:cs typeface="Inter"/>
                  <a:sym typeface="Inter"/>
                </a:rPr>
                <a:t>NEUROBYTES</a:t>
              </a:r>
              <a:endParaRPr sz="2200"/>
            </a:p>
          </p:txBody>
        </p:sp>
        <p:pic>
          <p:nvPicPr>
            <p:cNvPr id="213" name="Google Shape;213;p10" title="logo-light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8153" y="749275"/>
              <a:ext cx="497825" cy="49785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10"/>
          <p:cNvSpPr txBox="1"/>
          <p:nvPr/>
        </p:nvSpPr>
        <p:spPr>
          <a:xfrm>
            <a:off x="3979102" y="749286"/>
            <a:ext cx="1360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D331A"/>
                </a:solidFill>
                <a:latin typeface="Inter"/>
                <a:ea typeface="Inter"/>
                <a:cs typeface="Inter"/>
                <a:sym typeface="Inter"/>
              </a:rPr>
              <a:t>BY </a:t>
            </a:r>
            <a:endParaRPr b="1" sz="1300">
              <a:solidFill>
                <a:srgbClr val="2D33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D331A"/>
                </a:solidFill>
                <a:latin typeface="Inter"/>
                <a:ea typeface="Inter"/>
                <a:cs typeface="Inter"/>
                <a:sym typeface="Inter"/>
              </a:rPr>
              <a:t>TEAM </a:t>
            </a:r>
            <a:r>
              <a:rPr b="1" lang="en-US" sz="1500">
                <a:solidFill>
                  <a:srgbClr val="7F6000"/>
                </a:solidFill>
                <a:latin typeface="Inter"/>
                <a:ea typeface="Inter"/>
                <a:cs typeface="Inter"/>
                <a:sym typeface="Inter"/>
              </a:rPr>
              <a:t>BIERBYTES</a:t>
            </a:r>
            <a:endParaRPr b="1" sz="1600">
              <a:solidFill>
                <a:srgbClr val="7F6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EFAE0"/>
            </a:gs>
            <a:gs pos="60000">
              <a:srgbClr val="FFFDF3"/>
            </a:gs>
            <a:gs pos="100000">
              <a:srgbClr val="E9EDC9"/>
            </a:gs>
          </a:gsLst>
          <a:lin ang="3600008" scaled="0"/>
        </a:gra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/>
          <p:cNvSpPr txBox="1"/>
          <p:nvPr/>
        </p:nvSpPr>
        <p:spPr>
          <a:xfrm>
            <a:off x="9692640" y="6400800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B6635"/>
                </a:solidFill>
              </a:rPr>
              <a:t>B01</a:t>
            </a:r>
            <a:endParaRPr/>
          </a:p>
        </p:txBody>
      </p:sp>
      <p:sp>
        <p:nvSpPr>
          <p:cNvPr id="221" name="Google Shape;221;p4"/>
          <p:cNvSpPr txBox="1"/>
          <p:nvPr/>
        </p:nvSpPr>
        <p:spPr>
          <a:xfrm>
            <a:off x="685800" y="502920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6622E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</p:txBody>
      </p:sp>
      <p:sp>
        <p:nvSpPr>
          <p:cNvPr id="222" name="Google Shape;222;p4"/>
          <p:cNvSpPr txBox="1"/>
          <p:nvPr/>
        </p:nvSpPr>
        <p:spPr>
          <a:xfrm>
            <a:off x="685800" y="777240"/>
            <a:ext cx="7772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Every person well above chance.</a:t>
            </a:r>
            <a:endParaRPr/>
          </a:p>
        </p:txBody>
      </p:sp>
      <p:sp>
        <p:nvSpPr>
          <p:cNvPr id="223" name="Google Shape;223;p4"/>
          <p:cNvSpPr/>
          <p:nvPr/>
        </p:nvSpPr>
        <p:spPr>
          <a:xfrm>
            <a:off x="548640" y="1691640"/>
            <a:ext cx="7406700" cy="4526400"/>
          </a:xfrm>
          <a:prstGeom prst="roundRect">
            <a:avLst>
              <a:gd fmla="val 3232" name="adj"/>
            </a:avLst>
          </a:prstGeom>
          <a:solidFill>
            <a:srgbClr val="FFFDF3">
              <a:alpha val="85880"/>
            </a:srgbClr>
          </a:solidFill>
          <a:ln cap="flat" cmpd="sng" w="9525">
            <a:solidFill>
              <a:srgbClr val="CCD5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" name="Google Shape;224;p4"/>
          <p:cNvGrpSpPr/>
          <p:nvPr/>
        </p:nvGrpSpPr>
        <p:grpSpPr>
          <a:xfrm>
            <a:off x="731520" y="1874520"/>
            <a:ext cx="6949410" cy="4142112"/>
            <a:chOff x="731520" y="1874520"/>
            <a:chExt cx="6949410" cy="4142112"/>
          </a:xfrm>
        </p:grpSpPr>
        <p:sp>
          <p:nvSpPr>
            <p:cNvPr id="225" name="Google Shape;225;p4"/>
            <p:cNvSpPr txBox="1"/>
            <p:nvPr/>
          </p:nvSpPr>
          <p:spPr>
            <a:xfrm>
              <a:off x="731520" y="5559552"/>
              <a:ext cx="393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1234440" y="4834890"/>
              <a:ext cx="6446400" cy="9000"/>
            </a:xfrm>
            <a:prstGeom prst="rect">
              <a:avLst/>
            </a:prstGeom>
            <a:solidFill>
              <a:srgbClr val="DCE3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4"/>
            <p:cNvSpPr txBox="1"/>
            <p:nvPr/>
          </p:nvSpPr>
          <p:spPr>
            <a:xfrm>
              <a:off x="731520" y="4725162"/>
              <a:ext cx="393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/>
            </a:p>
          </p:txBody>
        </p:sp>
        <p:sp>
          <p:nvSpPr>
            <p:cNvPr id="228" name="Google Shape;228;p4"/>
            <p:cNvSpPr/>
            <p:nvPr/>
          </p:nvSpPr>
          <p:spPr>
            <a:xfrm>
              <a:off x="1234440" y="4000500"/>
              <a:ext cx="6446400" cy="9000"/>
            </a:xfrm>
            <a:prstGeom prst="rect">
              <a:avLst/>
            </a:prstGeom>
            <a:solidFill>
              <a:srgbClr val="DCE3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4"/>
            <p:cNvSpPr txBox="1"/>
            <p:nvPr/>
          </p:nvSpPr>
          <p:spPr>
            <a:xfrm>
              <a:off x="731520" y="3890772"/>
              <a:ext cx="393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/>
            </a:p>
          </p:txBody>
        </p:sp>
        <p:sp>
          <p:nvSpPr>
            <p:cNvPr id="230" name="Google Shape;230;p4"/>
            <p:cNvSpPr/>
            <p:nvPr/>
          </p:nvSpPr>
          <p:spPr>
            <a:xfrm>
              <a:off x="1234440" y="3166110"/>
              <a:ext cx="6446400" cy="9000"/>
            </a:xfrm>
            <a:prstGeom prst="rect">
              <a:avLst/>
            </a:prstGeom>
            <a:solidFill>
              <a:srgbClr val="DCE3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4"/>
            <p:cNvSpPr txBox="1"/>
            <p:nvPr/>
          </p:nvSpPr>
          <p:spPr>
            <a:xfrm>
              <a:off x="731520" y="3056382"/>
              <a:ext cx="393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75</a:t>
              </a: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1234440" y="2331720"/>
              <a:ext cx="6446400" cy="9000"/>
            </a:xfrm>
            <a:prstGeom prst="rect">
              <a:avLst/>
            </a:prstGeom>
            <a:solidFill>
              <a:srgbClr val="DCE3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4"/>
            <p:cNvSpPr txBox="1"/>
            <p:nvPr/>
          </p:nvSpPr>
          <p:spPr>
            <a:xfrm>
              <a:off x="731520" y="2221992"/>
              <a:ext cx="393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1234440" y="5663794"/>
              <a:ext cx="6446400" cy="12900"/>
            </a:xfrm>
            <a:prstGeom prst="rect">
              <a:avLst/>
            </a:prstGeom>
            <a:solidFill>
              <a:srgbClr val="ACB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1234440" y="1938528"/>
              <a:ext cx="146400" cy="146400"/>
            </a:xfrm>
            <a:prstGeom prst="rect">
              <a:avLst/>
            </a:prstGeom>
            <a:solidFill>
              <a:srgbClr val="5B66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4"/>
            <p:cNvSpPr txBox="1"/>
            <p:nvPr/>
          </p:nvSpPr>
          <p:spPr>
            <a:xfrm>
              <a:off x="1453896" y="1874520"/>
              <a:ext cx="12801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Top-1 %</a:t>
              </a: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2560320" y="1938528"/>
              <a:ext cx="146400" cy="146400"/>
            </a:xfrm>
            <a:prstGeom prst="rect">
              <a:avLst/>
            </a:prstGeom>
            <a:solidFill>
              <a:srgbClr val="ACB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4"/>
            <p:cNvSpPr txBox="1"/>
            <p:nvPr/>
          </p:nvSpPr>
          <p:spPr>
            <a:xfrm>
              <a:off x="2779776" y="1874520"/>
              <a:ext cx="12801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Top-5 %</a:t>
              </a: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1584534" y="4033876"/>
              <a:ext cx="437400" cy="1635300"/>
            </a:xfrm>
            <a:prstGeom prst="rect">
              <a:avLst/>
            </a:prstGeom>
            <a:solidFill>
              <a:srgbClr val="5B66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4"/>
            <p:cNvSpPr txBox="1"/>
            <p:nvPr/>
          </p:nvSpPr>
          <p:spPr>
            <a:xfrm>
              <a:off x="1429086" y="3759556"/>
              <a:ext cx="7482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49.0</a:t>
              </a: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2058543" y="3216173"/>
              <a:ext cx="437400" cy="2453100"/>
            </a:xfrm>
            <a:prstGeom prst="rect">
              <a:avLst/>
            </a:prstGeom>
            <a:solidFill>
              <a:srgbClr val="ACB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4"/>
            <p:cNvSpPr txBox="1"/>
            <p:nvPr/>
          </p:nvSpPr>
          <p:spPr>
            <a:xfrm>
              <a:off x="1903095" y="2941853"/>
              <a:ext cx="7482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73.5</a:t>
              </a:r>
              <a:endParaRPr/>
            </a:p>
          </p:txBody>
        </p:sp>
        <p:sp>
          <p:nvSpPr>
            <p:cNvPr id="243" name="Google Shape;243;p4"/>
            <p:cNvSpPr txBox="1"/>
            <p:nvPr/>
          </p:nvSpPr>
          <p:spPr>
            <a:xfrm>
              <a:off x="1234440" y="5742432"/>
              <a:ext cx="16116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sub‑01</a:t>
              </a: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3196164" y="4587911"/>
              <a:ext cx="437400" cy="1081500"/>
            </a:xfrm>
            <a:prstGeom prst="rect">
              <a:avLst/>
            </a:prstGeom>
            <a:solidFill>
              <a:srgbClr val="5B66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4"/>
            <p:cNvSpPr txBox="1"/>
            <p:nvPr/>
          </p:nvSpPr>
          <p:spPr>
            <a:xfrm>
              <a:off x="3040716" y="4313591"/>
              <a:ext cx="7482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32.4</a:t>
              </a: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3670173" y="3379714"/>
              <a:ext cx="437400" cy="2289600"/>
            </a:xfrm>
            <a:prstGeom prst="rect">
              <a:avLst/>
            </a:prstGeom>
            <a:solidFill>
              <a:srgbClr val="ACB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4"/>
            <p:cNvSpPr txBox="1"/>
            <p:nvPr/>
          </p:nvSpPr>
          <p:spPr>
            <a:xfrm>
              <a:off x="3514725" y="3105394"/>
              <a:ext cx="7482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68.6</a:t>
              </a:r>
              <a:endParaRPr/>
            </a:p>
          </p:txBody>
        </p:sp>
        <p:sp>
          <p:nvSpPr>
            <p:cNvPr id="248" name="Google Shape;248;p4"/>
            <p:cNvSpPr txBox="1"/>
            <p:nvPr/>
          </p:nvSpPr>
          <p:spPr>
            <a:xfrm>
              <a:off x="2846070" y="5742432"/>
              <a:ext cx="16116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sub‑02</a:t>
              </a: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4807794" y="4784827"/>
              <a:ext cx="437400" cy="884400"/>
            </a:xfrm>
            <a:prstGeom prst="rect">
              <a:avLst/>
            </a:prstGeom>
            <a:solidFill>
              <a:srgbClr val="5B66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4"/>
            <p:cNvSpPr txBox="1"/>
            <p:nvPr/>
          </p:nvSpPr>
          <p:spPr>
            <a:xfrm>
              <a:off x="4652346" y="4510507"/>
              <a:ext cx="7482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26.5</a:t>
              </a: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281803" y="3740170"/>
              <a:ext cx="437400" cy="1929000"/>
            </a:xfrm>
            <a:prstGeom prst="rect">
              <a:avLst/>
            </a:prstGeom>
            <a:solidFill>
              <a:srgbClr val="ACB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4"/>
            <p:cNvSpPr txBox="1"/>
            <p:nvPr/>
          </p:nvSpPr>
          <p:spPr>
            <a:xfrm>
              <a:off x="5126355" y="3465850"/>
              <a:ext cx="7482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57.8</a:t>
              </a:r>
              <a:endParaRPr/>
            </a:p>
          </p:txBody>
        </p:sp>
        <p:sp>
          <p:nvSpPr>
            <p:cNvPr id="253" name="Google Shape;253;p4"/>
            <p:cNvSpPr txBox="1"/>
            <p:nvPr/>
          </p:nvSpPr>
          <p:spPr>
            <a:xfrm>
              <a:off x="4457700" y="5742432"/>
              <a:ext cx="16116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sub‑03</a:t>
              </a: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6419424" y="4457746"/>
              <a:ext cx="437400" cy="1211400"/>
            </a:xfrm>
            <a:prstGeom prst="rect">
              <a:avLst/>
            </a:prstGeom>
            <a:solidFill>
              <a:srgbClr val="5B66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4"/>
            <p:cNvSpPr txBox="1"/>
            <p:nvPr/>
          </p:nvSpPr>
          <p:spPr>
            <a:xfrm>
              <a:off x="6263976" y="4183426"/>
              <a:ext cx="7482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36.3</a:t>
              </a: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6893433" y="3379714"/>
              <a:ext cx="437400" cy="2289600"/>
            </a:xfrm>
            <a:prstGeom prst="rect">
              <a:avLst/>
            </a:prstGeom>
            <a:solidFill>
              <a:srgbClr val="ACB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4"/>
            <p:cNvSpPr txBox="1"/>
            <p:nvPr/>
          </p:nvSpPr>
          <p:spPr>
            <a:xfrm>
              <a:off x="6737985" y="3105394"/>
              <a:ext cx="7482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68.6</a:t>
              </a:r>
              <a:endParaRPr/>
            </a:p>
          </p:txBody>
        </p:sp>
        <p:sp>
          <p:nvSpPr>
            <p:cNvPr id="258" name="Google Shape;258;p4"/>
            <p:cNvSpPr txBox="1"/>
            <p:nvPr/>
          </p:nvSpPr>
          <p:spPr>
            <a:xfrm>
              <a:off x="6069330" y="5742432"/>
              <a:ext cx="16116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sub‑04</a:t>
              </a:r>
              <a:endParaRPr/>
            </a:p>
          </p:txBody>
        </p:sp>
      </p:grpSp>
      <p:sp>
        <p:nvSpPr>
          <p:cNvPr id="259" name="Google Shape;259;p4"/>
          <p:cNvSpPr/>
          <p:nvPr/>
        </p:nvSpPr>
        <p:spPr>
          <a:xfrm>
            <a:off x="8321040" y="1856232"/>
            <a:ext cx="36600" cy="868800"/>
          </a:xfrm>
          <a:prstGeom prst="rect">
            <a:avLst/>
          </a:prstGeom>
          <a:solidFill>
            <a:srgbClr val="8899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"/>
          <p:cNvSpPr txBox="1"/>
          <p:nvPr/>
        </p:nvSpPr>
        <p:spPr>
          <a:xfrm>
            <a:off x="8485632" y="1783080"/>
            <a:ext cx="3127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36.0%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top‑1 pooled, 408 recordings</a:t>
            </a:r>
            <a:endParaRPr/>
          </a:p>
        </p:txBody>
      </p:sp>
      <p:sp>
        <p:nvSpPr>
          <p:cNvPr id="261" name="Google Shape;261;p4"/>
          <p:cNvSpPr/>
          <p:nvPr/>
        </p:nvSpPr>
        <p:spPr>
          <a:xfrm>
            <a:off x="8321040" y="3090672"/>
            <a:ext cx="36600" cy="868800"/>
          </a:xfrm>
          <a:prstGeom prst="rect">
            <a:avLst/>
          </a:prstGeom>
          <a:solidFill>
            <a:srgbClr val="8899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4"/>
          <p:cNvSpPr txBox="1"/>
          <p:nvPr/>
        </p:nvSpPr>
        <p:spPr>
          <a:xfrm>
            <a:off x="8485632" y="3017520"/>
            <a:ext cx="3127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67.2%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top‑5 pooled</a:t>
            </a:r>
            <a:endParaRPr/>
          </a:p>
        </p:txBody>
      </p:sp>
      <p:sp>
        <p:nvSpPr>
          <p:cNvPr id="263" name="Google Shape;263;p4"/>
          <p:cNvSpPr/>
          <p:nvPr/>
        </p:nvSpPr>
        <p:spPr>
          <a:xfrm>
            <a:off x="8321040" y="4325112"/>
            <a:ext cx="36600" cy="868800"/>
          </a:xfrm>
          <a:prstGeom prst="rect">
            <a:avLst/>
          </a:prstGeom>
          <a:solidFill>
            <a:srgbClr val="8899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"/>
          <p:cNvSpPr txBox="1"/>
          <p:nvPr/>
        </p:nvSpPr>
        <p:spPr>
          <a:xfrm>
            <a:off x="8485632" y="4251960"/>
            <a:ext cx="3127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5.99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mean rank of 102 (6.00 CPU/Docker)</a:t>
            </a:r>
            <a:endParaRPr/>
          </a:p>
        </p:txBody>
      </p:sp>
      <p:sp>
        <p:nvSpPr>
          <p:cNvPr id="265" name="Google Shape;265;p4"/>
          <p:cNvSpPr txBox="1"/>
          <p:nvPr/>
        </p:nvSpPr>
        <p:spPr>
          <a:xfrm>
            <a:off x="8321040" y="5486400"/>
            <a:ext cx="3291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Chance: 0.98% top‑1, 4.90% top‑5, mean rank 51.5. Development test labels were used to report and compare final candidates.</a:t>
            </a:r>
            <a:endParaRPr/>
          </a:p>
        </p:txBody>
      </p:sp>
      <p:sp>
        <p:nvSpPr>
          <p:cNvPr id="266" name="Google Shape;266;p4"/>
          <p:cNvSpPr txBox="1"/>
          <p:nvPr/>
        </p:nvSpPr>
        <p:spPr>
          <a:xfrm>
            <a:off x="10652760" y="338328"/>
            <a:ext cx="164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NeuroBytes</a:t>
            </a:r>
            <a:endParaRPr/>
          </a:p>
        </p:txBody>
      </p:sp>
      <p:pic>
        <p:nvPicPr>
          <p:cNvPr id="267" name="Google Shape;267;p4" title="logo-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9975" y="208150"/>
            <a:ext cx="422774" cy="42277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"/>
          <p:cNvSpPr txBox="1"/>
          <p:nvPr/>
        </p:nvSpPr>
        <p:spPr>
          <a:xfrm>
            <a:off x="97425" y="64120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0000"/>
                </a:solidFill>
              </a:rPr>
              <a:t>Backup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EFAE0"/>
            </a:gs>
            <a:gs pos="60000">
              <a:srgbClr val="FFFDF3"/>
            </a:gs>
            <a:gs pos="100000">
              <a:srgbClr val="E9EDC9"/>
            </a:gs>
          </a:gsLst>
          <a:lin ang="3600008" scaled="0"/>
        </a:gra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"/>
          <p:cNvSpPr txBox="1"/>
          <p:nvPr/>
        </p:nvSpPr>
        <p:spPr>
          <a:xfrm>
            <a:off x="9692640" y="6400800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B6635"/>
                </a:solidFill>
              </a:rPr>
              <a:t>B02</a:t>
            </a:r>
            <a:endParaRPr/>
          </a:p>
        </p:txBody>
      </p:sp>
      <p:sp>
        <p:nvSpPr>
          <p:cNvPr id="275" name="Google Shape;275;p6"/>
          <p:cNvSpPr txBox="1"/>
          <p:nvPr/>
        </p:nvSpPr>
        <p:spPr>
          <a:xfrm>
            <a:off x="685800" y="502920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96622E"/>
                </a:solidFill>
                <a:latin typeface="Arial"/>
                <a:ea typeface="Arial"/>
                <a:cs typeface="Arial"/>
                <a:sym typeface="Arial"/>
              </a:rPr>
              <a:t>PROGRESSION</a:t>
            </a:r>
            <a:endParaRPr/>
          </a:p>
        </p:txBody>
      </p:sp>
      <p:sp>
        <p:nvSpPr>
          <p:cNvPr id="276" name="Google Shape;276;p6"/>
          <p:cNvSpPr txBox="1"/>
          <p:nvPr/>
        </p:nvSpPr>
        <p:spPr>
          <a:xfrm>
            <a:off x="685800" y="777240"/>
            <a:ext cx="10058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From 11% to 36% top‑1, one step at a time.</a:t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548640" y="1691640"/>
            <a:ext cx="11064300" cy="3931800"/>
          </a:xfrm>
          <a:prstGeom prst="roundRect">
            <a:avLst>
              <a:gd fmla="val 3720" name="adj"/>
            </a:avLst>
          </a:prstGeom>
          <a:solidFill>
            <a:srgbClr val="FFFDF3">
              <a:alpha val="85880"/>
            </a:srgbClr>
          </a:solidFill>
          <a:ln cap="flat" cmpd="sng" w="9525">
            <a:solidFill>
              <a:srgbClr val="CCD5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8" name="Google Shape;278;p6"/>
          <p:cNvGrpSpPr/>
          <p:nvPr/>
        </p:nvGrpSpPr>
        <p:grpSpPr>
          <a:xfrm>
            <a:off x="731520" y="1828800"/>
            <a:ext cx="10607028" cy="3639192"/>
            <a:chOff x="731520" y="1828800"/>
            <a:chExt cx="10607028" cy="3639192"/>
          </a:xfrm>
        </p:grpSpPr>
        <p:sp>
          <p:nvSpPr>
            <p:cNvPr id="279" name="Google Shape;279;p6"/>
            <p:cNvSpPr txBox="1"/>
            <p:nvPr/>
          </p:nvSpPr>
          <p:spPr>
            <a:xfrm>
              <a:off x="731520" y="5010912"/>
              <a:ext cx="393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1234440" y="4411980"/>
              <a:ext cx="10104000" cy="9000"/>
            </a:xfrm>
            <a:prstGeom prst="rect">
              <a:avLst/>
            </a:prstGeom>
            <a:solidFill>
              <a:srgbClr val="DCE3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6"/>
            <p:cNvSpPr txBox="1"/>
            <p:nvPr/>
          </p:nvSpPr>
          <p:spPr>
            <a:xfrm>
              <a:off x="731520" y="4302252"/>
              <a:ext cx="393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/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1234440" y="3703320"/>
              <a:ext cx="10104000" cy="9000"/>
            </a:xfrm>
            <a:prstGeom prst="rect">
              <a:avLst/>
            </a:prstGeom>
            <a:solidFill>
              <a:srgbClr val="DCE3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6"/>
            <p:cNvSpPr txBox="1"/>
            <p:nvPr/>
          </p:nvSpPr>
          <p:spPr>
            <a:xfrm>
              <a:off x="731520" y="3593592"/>
              <a:ext cx="393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/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1234440" y="2994660"/>
              <a:ext cx="10104000" cy="9000"/>
            </a:xfrm>
            <a:prstGeom prst="rect">
              <a:avLst/>
            </a:prstGeom>
            <a:solidFill>
              <a:srgbClr val="DCE3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6"/>
            <p:cNvSpPr txBox="1"/>
            <p:nvPr/>
          </p:nvSpPr>
          <p:spPr>
            <a:xfrm>
              <a:off x="731520" y="2884932"/>
              <a:ext cx="393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1234440" y="2286000"/>
              <a:ext cx="10104000" cy="9000"/>
            </a:xfrm>
            <a:prstGeom prst="rect">
              <a:avLst/>
            </a:prstGeom>
            <a:solidFill>
              <a:srgbClr val="DCE3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6"/>
            <p:cNvSpPr txBox="1"/>
            <p:nvPr/>
          </p:nvSpPr>
          <p:spPr>
            <a:xfrm>
              <a:off x="731520" y="2176272"/>
              <a:ext cx="393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80</a:t>
              </a:r>
              <a:endParaRPr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1234440" y="5115154"/>
              <a:ext cx="10104000" cy="12900"/>
            </a:xfrm>
            <a:prstGeom prst="rect">
              <a:avLst/>
            </a:prstGeom>
            <a:solidFill>
              <a:srgbClr val="ACB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1234440" y="1892808"/>
              <a:ext cx="146400" cy="146400"/>
            </a:xfrm>
            <a:prstGeom prst="rect">
              <a:avLst/>
            </a:prstGeom>
            <a:solidFill>
              <a:srgbClr val="ACB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6"/>
            <p:cNvSpPr txBox="1"/>
            <p:nvPr/>
          </p:nvSpPr>
          <p:spPr>
            <a:xfrm>
              <a:off x="1453896" y="1828800"/>
              <a:ext cx="12801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Top-5 %</a:t>
              </a: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2560320" y="1892808"/>
              <a:ext cx="146400" cy="146400"/>
            </a:xfrm>
            <a:prstGeom prst="rect">
              <a:avLst/>
            </a:prstGeom>
            <a:solidFill>
              <a:srgbClr val="5B66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6"/>
            <p:cNvSpPr txBox="1"/>
            <p:nvPr/>
          </p:nvSpPr>
          <p:spPr>
            <a:xfrm>
              <a:off x="2779776" y="1828800"/>
              <a:ext cx="12801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Top-1 %</a:t>
              </a:r>
              <a:endParaRPr/>
            </a:p>
          </p:txBody>
        </p:sp>
        <p:sp>
          <p:nvSpPr>
            <p:cNvPr id="293" name="Google Shape;293;p6"/>
            <p:cNvSpPr txBox="1"/>
            <p:nvPr/>
          </p:nvSpPr>
          <p:spPr>
            <a:xfrm>
              <a:off x="1234440" y="5193792"/>
              <a:ext cx="1010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J1</a:t>
              </a:r>
              <a:endParaRPr/>
            </a:p>
          </p:txBody>
        </p:sp>
        <p:sp>
          <p:nvSpPr>
            <p:cNvPr id="294" name="Google Shape;294;p6"/>
            <p:cNvSpPr txBox="1"/>
            <p:nvPr/>
          </p:nvSpPr>
          <p:spPr>
            <a:xfrm>
              <a:off x="2244852" y="5193792"/>
              <a:ext cx="1010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T1</a:t>
              </a:r>
              <a:endParaRPr/>
            </a:p>
          </p:txBody>
        </p:sp>
        <p:sp>
          <p:nvSpPr>
            <p:cNvPr id="295" name="Google Shape;295;p6"/>
            <p:cNvSpPr txBox="1"/>
            <p:nvPr/>
          </p:nvSpPr>
          <p:spPr>
            <a:xfrm>
              <a:off x="3255264" y="5193792"/>
              <a:ext cx="1010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T2</a:t>
              </a:r>
              <a:endParaRPr/>
            </a:p>
          </p:txBody>
        </p:sp>
        <p:sp>
          <p:nvSpPr>
            <p:cNvPr id="296" name="Google Shape;296;p6"/>
            <p:cNvSpPr txBox="1"/>
            <p:nvPr/>
          </p:nvSpPr>
          <p:spPr>
            <a:xfrm>
              <a:off x="4265676" y="5193792"/>
              <a:ext cx="1010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WF1</a:t>
              </a:r>
              <a:endParaRPr/>
            </a:p>
          </p:txBody>
        </p:sp>
        <p:sp>
          <p:nvSpPr>
            <p:cNvPr id="297" name="Google Shape;297;p6"/>
            <p:cNvSpPr txBox="1"/>
            <p:nvPr/>
          </p:nvSpPr>
          <p:spPr>
            <a:xfrm>
              <a:off x="5276088" y="5193792"/>
              <a:ext cx="1010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C3</a:t>
              </a:r>
              <a:endParaRPr/>
            </a:p>
          </p:txBody>
        </p:sp>
        <p:sp>
          <p:nvSpPr>
            <p:cNvPr id="298" name="Google Shape;298;p6"/>
            <p:cNvSpPr txBox="1"/>
            <p:nvPr/>
          </p:nvSpPr>
          <p:spPr>
            <a:xfrm>
              <a:off x="6286500" y="5193792"/>
              <a:ext cx="1010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C5</a:t>
              </a:r>
              <a:endParaRPr/>
            </a:p>
          </p:txBody>
        </p:sp>
        <p:sp>
          <p:nvSpPr>
            <p:cNvPr id="299" name="Google Shape;299;p6"/>
            <p:cNvSpPr txBox="1"/>
            <p:nvPr/>
          </p:nvSpPr>
          <p:spPr>
            <a:xfrm>
              <a:off x="7296912" y="5193792"/>
              <a:ext cx="1010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C10</a:t>
              </a:r>
              <a:endParaRPr/>
            </a:p>
          </p:txBody>
        </p:sp>
        <p:sp>
          <p:nvSpPr>
            <p:cNvPr id="300" name="Google Shape;300;p6"/>
            <p:cNvSpPr txBox="1"/>
            <p:nvPr/>
          </p:nvSpPr>
          <p:spPr>
            <a:xfrm>
              <a:off x="8307324" y="5193792"/>
              <a:ext cx="1010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C11</a:t>
              </a:r>
              <a:endParaRPr/>
            </a:p>
          </p:txBody>
        </p:sp>
        <p:sp>
          <p:nvSpPr>
            <p:cNvPr id="301" name="Google Shape;301;p6"/>
            <p:cNvSpPr txBox="1"/>
            <p:nvPr/>
          </p:nvSpPr>
          <p:spPr>
            <a:xfrm>
              <a:off x="9317736" y="5193792"/>
              <a:ext cx="1010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C12</a:t>
              </a:r>
              <a:endParaRPr/>
            </a:p>
          </p:txBody>
        </p:sp>
        <p:sp>
          <p:nvSpPr>
            <p:cNvPr id="302" name="Google Shape;302;p6"/>
            <p:cNvSpPr txBox="1"/>
            <p:nvPr/>
          </p:nvSpPr>
          <p:spPr>
            <a:xfrm>
              <a:off x="10328148" y="5193792"/>
              <a:ext cx="1010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6635"/>
                  </a:solidFill>
                  <a:latin typeface="Arial"/>
                  <a:ea typeface="Arial"/>
                  <a:cs typeface="Arial"/>
                  <a:sym typeface="Arial"/>
                </a:rPr>
                <a:t>C13</a:t>
              </a: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1739646" y="2732456"/>
              <a:ext cx="9093708" cy="1337241"/>
            </a:xfrm>
            <a:custGeom>
              <a:rect b="b" l="l" r="r" t="t"/>
              <a:pathLst>
                <a:path extrusionOk="0" h="1337241" w="9093708">
                  <a:moveTo>
                    <a:pt x="0" y="1337241"/>
                  </a:moveTo>
                  <a:lnTo>
                    <a:pt x="1010412" y="1128895"/>
                  </a:lnTo>
                  <a:lnTo>
                    <a:pt x="2020824" y="1016218"/>
                  </a:lnTo>
                  <a:lnTo>
                    <a:pt x="3031236" y="529723"/>
                  </a:lnTo>
                  <a:lnTo>
                    <a:pt x="4041648" y="356101"/>
                  </a:lnTo>
                  <a:lnTo>
                    <a:pt x="5052060" y="182480"/>
                  </a:lnTo>
                  <a:lnTo>
                    <a:pt x="6062472" y="25866"/>
                  </a:lnTo>
                  <a:lnTo>
                    <a:pt x="7072884" y="43228"/>
                  </a:lnTo>
                  <a:lnTo>
                    <a:pt x="8083296" y="0"/>
                  </a:lnTo>
                  <a:lnTo>
                    <a:pt x="9093708" y="8504"/>
                  </a:lnTo>
                </a:path>
              </a:pathLst>
            </a:custGeom>
            <a:noFill/>
            <a:ln cap="flat" cmpd="sng" w="34925">
              <a:solidFill>
                <a:srgbClr val="ACBB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1684782" y="4014833"/>
              <a:ext cx="109800" cy="109800"/>
            </a:xfrm>
            <a:prstGeom prst="ellipse">
              <a:avLst/>
            </a:prstGeom>
            <a:solidFill>
              <a:srgbClr val="ACBB7B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6"/>
            <p:cNvSpPr txBox="1"/>
            <p:nvPr/>
          </p:nvSpPr>
          <p:spPr>
            <a:xfrm>
              <a:off x="1373886" y="3740513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29.7</a:t>
              </a: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2695194" y="3806487"/>
              <a:ext cx="109800" cy="109800"/>
            </a:xfrm>
            <a:prstGeom prst="ellipse">
              <a:avLst/>
            </a:prstGeom>
            <a:solidFill>
              <a:srgbClr val="ACBB7B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6"/>
            <p:cNvSpPr txBox="1"/>
            <p:nvPr/>
          </p:nvSpPr>
          <p:spPr>
            <a:xfrm>
              <a:off x="2384298" y="3532167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35.5</a:t>
              </a: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3705606" y="3693810"/>
              <a:ext cx="109800" cy="109800"/>
            </a:xfrm>
            <a:prstGeom prst="ellipse">
              <a:avLst/>
            </a:prstGeom>
            <a:solidFill>
              <a:srgbClr val="ACBB7B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6"/>
            <p:cNvSpPr txBox="1"/>
            <p:nvPr/>
          </p:nvSpPr>
          <p:spPr>
            <a:xfrm>
              <a:off x="3394710" y="3419490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38.7</a:t>
              </a: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4716018" y="3207315"/>
              <a:ext cx="109800" cy="109800"/>
            </a:xfrm>
            <a:prstGeom prst="ellipse">
              <a:avLst/>
            </a:prstGeom>
            <a:solidFill>
              <a:srgbClr val="ACBB7B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6"/>
            <p:cNvSpPr txBox="1"/>
            <p:nvPr/>
          </p:nvSpPr>
          <p:spPr>
            <a:xfrm>
              <a:off x="4405122" y="2932995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52.5</a:t>
              </a: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5726430" y="3033693"/>
              <a:ext cx="109800" cy="109800"/>
            </a:xfrm>
            <a:prstGeom prst="ellipse">
              <a:avLst/>
            </a:prstGeom>
            <a:solidFill>
              <a:srgbClr val="ACBB7B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6"/>
            <p:cNvSpPr txBox="1"/>
            <p:nvPr/>
          </p:nvSpPr>
          <p:spPr>
            <a:xfrm>
              <a:off x="5415534" y="2759373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57.4</a:t>
              </a: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6736842" y="2860072"/>
              <a:ext cx="109800" cy="109800"/>
            </a:xfrm>
            <a:prstGeom prst="ellipse">
              <a:avLst/>
            </a:prstGeom>
            <a:solidFill>
              <a:srgbClr val="ACBB7B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6"/>
            <p:cNvSpPr txBox="1"/>
            <p:nvPr/>
          </p:nvSpPr>
          <p:spPr>
            <a:xfrm>
              <a:off x="6425946" y="2585752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62.2</a:t>
              </a:r>
              <a:endParaRPr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7747254" y="2703458"/>
              <a:ext cx="109800" cy="109800"/>
            </a:xfrm>
            <a:prstGeom prst="ellipse">
              <a:avLst/>
            </a:prstGeom>
            <a:solidFill>
              <a:srgbClr val="ACBB7B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6"/>
            <p:cNvSpPr txBox="1"/>
            <p:nvPr/>
          </p:nvSpPr>
          <p:spPr>
            <a:xfrm>
              <a:off x="7436358" y="2429138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66.7</a:t>
              </a: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8757666" y="2720820"/>
              <a:ext cx="109800" cy="109800"/>
            </a:xfrm>
            <a:prstGeom prst="ellipse">
              <a:avLst/>
            </a:prstGeom>
            <a:solidFill>
              <a:srgbClr val="ACBB7B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6"/>
            <p:cNvSpPr txBox="1"/>
            <p:nvPr/>
          </p:nvSpPr>
          <p:spPr>
            <a:xfrm>
              <a:off x="8446770" y="2446500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66.2</a:t>
              </a:r>
              <a:endParaRPr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9768078" y="2677592"/>
              <a:ext cx="109800" cy="109800"/>
            </a:xfrm>
            <a:prstGeom prst="ellipse">
              <a:avLst/>
            </a:prstGeom>
            <a:solidFill>
              <a:srgbClr val="ACBB7B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6"/>
            <p:cNvSpPr txBox="1"/>
            <p:nvPr/>
          </p:nvSpPr>
          <p:spPr>
            <a:xfrm>
              <a:off x="9457182" y="2403272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67.4</a:t>
              </a:r>
              <a:endParaRPr/>
            </a:p>
          </p:txBody>
        </p:sp>
        <p:sp>
          <p:nvSpPr>
            <p:cNvPr id="322" name="Google Shape;322;p6"/>
            <p:cNvSpPr/>
            <p:nvPr/>
          </p:nvSpPr>
          <p:spPr>
            <a:xfrm>
              <a:off x="10778490" y="2686096"/>
              <a:ext cx="109800" cy="109800"/>
            </a:xfrm>
            <a:prstGeom prst="ellipse">
              <a:avLst/>
            </a:prstGeom>
            <a:solidFill>
              <a:srgbClr val="ACBB7B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6"/>
            <p:cNvSpPr txBox="1"/>
            <p:nvPr/>
          </p:nvSpPr>
          <p:spPr>
            <a:xfrm>
              <a:off x="10467594" y="2411776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67.2</a:t>
              </a:r>
              <a:endParaRPr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1739646" y="3843989"/>
              <a:ext cx="9093708" cy="885825"/>
            </a:xfrm>
            <a:custGeom>
              <a:rect b="b" l="l" r="r" t="t"/>
              <a:pathLst>
                <a:path extrusionOk="0" h="885825" w="9093708">
                  <a:moveTo>
                    <a:pt x="0" y="885825"/>
                  </a:moveTo>
                  <a:lnTo>
                    <a:pt x="1010412" y="868463"/>
                  </a:lnTo>
                  <a:lnTo>
                    <a:pt x="2020824" y="781652"/>
                  </a:lnTo>
                  <a:lnTo>
                    <a:pt x="3031236" y="460275"/>
                  </a:lnTo>
                  <a:lnTo>
                    <a:pt x="4041648" y="338739"/>
                  </a:lnTo>
                  <a:lnTo>
                    <a:pt x="5052060" y="182480"/>
                  </a:lnTo>
                  <a:lnTo>
                    <a:pt x="6062472" y="121535"/>
                  </a:lnTo>
                  <a:lnTo>
                    <a:pt x="7072884" y="52087"/>
                  </a:lnTo>
                  <a:lnTo>
                    <a:pt x="8083296" y="34724"/>
                  </a:lnTo>
                  <a:lnTo>
                    <a:pt x="9093708" y="0"/>
                  </a:lnTo>
                </a:path>
              </a:pathLst>
            </a:custGeom>
            <a:noFill/>
            <a:ln cap="flat" cmpd="sng" w="34925">
              <a:solidFill>
                <a:srgbClr val="5B6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1684782" y="4674950"/>
              <a:ext cx="109800" cy="109800"/>
            </a:xfrm>
            <a:prstGeom prst="ellipse">
              <a:avLst/>
            </a:prstGeom>
            <a:solidFill>
              <a:srgbClr val="5B6635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6"/>
            <p:cNvSpPr txBox="1"/>
            <p:nvPr/>
          </p:nvSpPr>
          <p:spPr>
            <a:xfrm>
              <a:off x="1373886" y="4400630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11.0</a:t>
              </a:r>
              <a:endParaRPr/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2695194" y="4657588"/>
              <a:ext cx="109800" cy="109800"/>
            </a:xfrm>
            <a:prstGeom prst="ellipse">
              <a:avLst/>
            </a:prstGeom>
            <a:solidFill>
              <a:srgbClr val="5B6635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6"/>
            <p:cNvSpPr txBox="1"/>
            <p:nvPr/>
          </p:nvSpPr>
          <p:spPr>
            <a:xfrm>
              <a:off x="2384298" y="4383268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11.5</a:t>
              </a:r>
              <a:endParaRPr/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3705606" y="4570777"/>
              <a:ext cx="109800" cy="109800"/>
            </a:xfrm>
            <a:prstGeom prst="ellipse">
              <a:avLst/>
            </a:prstGeom>
            <a:solidFill>
              <a:srgbClr val="5B6635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6"/>
            <p:cNvSpPr txBox="1"/>
            <p:nvPr/>
          </p:nvSpPr>
          <p:spPr>
            <a:xfrm>
              <a:off x="3394710" y="4296457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14.0</a:t>
              </a:r>
              <a:endParaRPr/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4716018" y="4249400"/>
              <a:ext cx="109800" cy="109800"/>
            </a:xfrm>
            <a:prstGeom prst="ellipse">
              <a:avLst/>
            </a:prstGeom>
            <a:solidFill>
              <a:srgbClr val="5B6635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6"/>
            <p:cNvSpPr txBox="1"/>
            <p:nvPr/>
          </p:nvSpPr>
          <p:spPr>
            <a:xfrm>
              <a:off x="4405122" y="3975080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23.0</a:t>
              </a:r>
              <a:endParaRPr/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5726430" y="4127864"/>
              <a:ext cx="109800" cy="109800"/>
            </a:xfrm>
            <a:prstGeom prst="ellipse">
              <a:avLst/>
            </a:prstGeom>
            <a:solidFill>
              <a:srgbClr val="5B6635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6"/>
            <p:cNvSpPr txBox="1"/>
            <p:nvPr/>
          </p:nvSpPr>
          <p:spPr>
            <a:xfrm>
              <a:off x="5415534" y="3853544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26.5</a:t>
              </a:r>
              <a:endParaRPr/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6736842" y="3971605"/>
              <a:ext cx="109800" cy="109800"/>
            </a:xfrm>
            <a:prstGeom prst="ellipse">
              <a:avLst/>
            </a:prstGeom>
            <a:solidFill>
              <a:srgbClr val="5B6635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6"/>
            <p:cNvSpPr txBox="1"/>
            <p:nvPr/>
          </p:nvSpPr>
          <p:spPr>
            <a:xfrm>
              <a:off x="6425946" y="3697285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30.9</a:t>
              </a:r>
              <a:endParaRPr/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7747254" y="3910660"/>
              <a:ext cx="109800" cy="109800"/>
            </a:xfrm>
            <a:prstGeom prst="ellipse">
              <a:avLst/>
            </a:prstGeom>
            <a:solidFill>
              <a:srgbClr val="5B6635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6"/>
            <p:cNvSpPr txBox="1"/>
            <p:nvPr/>
          </p:nvSpPr>
          <p:spPr>
            <a:xfrm>
              <a:off x="7436358" y="3636340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32.6</a:t>
              </a:r>
              <a:endParaRPr/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8757666" y="3841212"/>
              <a:ext cx="109800" cy="109800"/>
            </a:xfrm>
            <a:prstGeom prst="ellipse">
              <a:avLst/>
            </a:prstGeom>
            <a:solidFill>
              <a:srgbClr val="5B6635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6"/>
            <p:cNvSpPr txBox="1"/>
            <p:nvPr/>
          </p:nvSpPr>
          <p:spPr>
            <a:xfrm>
              <a:off x="8446770" y="3566892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34.6</a:t>
              </a:r>
              <a:endParaRPr/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9768078" y="3823849"/>
              <a:ext cx="109800" cy="109800"/>
            </a:xfrm>
            <a:prstGeom prst="ellipse">
              <a:avLst/>
            </a:prstGeom>
            <a:solidFill>
              <a:srgbClr val="5B6635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6"/>
            <p:cNvSpPr txBox="1"/>
            <p:nvPr/>
          </p:nvSpPr>
          <p:spPr>
            <a:xfrm>
              <a:off x="9457182" y="3549529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35.0</a:t>
              </a:r>
              <a:endParaRPr/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10778490" y="3789125"/>
              <a:ext cx="109800" cy="109800"/>
            </a:xfrm>
            <a:prstGeom prst="ellipse">
              <a:avLst/>
            </a:prstGeom>
            <a:solidFill>
              <a:srgbClr val="5B6635"/>
            </a:solidFill>
            <a:ln cap="flat" cmpd="sng" w="12700">
              <a:solidFill>
                <a:srgbClr val="FFFD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6"/>
            <p:cNvSpPr txBox="1"/>
            <p:nvPr/>
          </p:nvSpPr>
          <p:spPr>
            <a:xfrm>
              <a:off x="10467594" y="3514805"/>
              <a:ext cx="7314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2D331A"/>
                  </a:solidFill>
                  <a:latin typeface="Arial"/>
                  <a:ea typeface="Arial"/>
                  <a:cs typeface="Arial"/>
                  <a:sym typeface="Arial"/>
                </a:rPr>
                <a:t>36.0</a:t>
              </a:r>
              <a:endParaRPr/>
            </a:p>
          </p:txBody>
        </p:sp>
      </p:grpSp>
      <p:sp>
        <p:nvSpPr>
          <p:cNvPr id="345" name="Google Shape;345;p6"/>
          <p:cNvSpPr txBox="1"/>
          <p:nvPr/>
        </p:nvSpPr>
        <p:spPr>
          <a:xfrm>
            <a:off x="685800" y="5760720"/>
            <a:ext cx="1088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35"/>
                </a:solidFill>
                <a:latin typeface="Arial"/>
                <a:ea typeface="Arial"/>
                <a:cs typeface="Arial"/>
                <a:sym typeface="Arial"/>
              </a:rPr>
              <a:t>Development-test top‑1 / top‑5 (%) per milestone, 408 recordings. J1, T1, T2: single pipelines; WF1: window fusion; C3 to C13: combined candidates. Comparing candidates on development labels is disclosed.</a:t>
            </a:r>
            <a:endParaRPr/>
          </a:p>
        </p:txBody>
      </p:sp>
      <p:sp>
        <p:nvSpPr>
          <p:cNvPr id="346" name="Google Shape;346;p6"/>
          <p:cNvSpPr txBox="1"/>
          <p:nvPr/>
        </p:nvSpPr>
        <p:spPr>
          <a:xfrm>
            <a:off x="10652760" y="338328"/>
            <a:ext cx="164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D331A"/>
                </a:solidFill>
                <a:latin typeface="Arial"/>
                <a:ea typeface="Arial"/>
                <a:cs typeface="Arial"/>
                <a:sym typeface="Arial"/>
              </a:rPr>
              <a:t>NeuroBytes</a:t>
            </a:r>
            <a:endParaRPr/>
          </a:p>
        </p:txBody>
      </p:sp>
      <p:pic>
        <p:nvPicPr>
          <p:cNvPr id="347" name="Google Shape;347;p6" title="logo-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9975" y="208150"/>
            <a:ext cx="422774" cy="42277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6"/>
          <p:cNvSpPr txBox="1"/>
          <p:nvPr/>
        </p:nvSpPr>
        <p:spPr>
          <a:xfrm>
            <a:off x="97425" y="64120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90000"/>
                </a:solidFill>
              </a:rPr>
              <a:t>Backup</a:t>
            </a:r>
            <a:endParaRPr>
              <a:solidFill>
                <a:srgbClr val="99000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