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8658"/>
  </p:normalViewPr>
  <p:slideViewPr>
    <p:cSldViewPr snapToGrid="0" snapToObjects="1">
      <p:cViewPr varScale="1">
        <p:scale>
          <a:sx n="111" d="100"/>
          <a:sy n="111" d="100"/>
        </p:scale>
        <p:origin x="1176"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71BE1B-F8C1-CE40-93DD-EA016D41B0F7}" type="datetimeFigureOut">
              <a:rPr lang="en-US" smtClean="0"/>
              <a:t>10/18/26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7C77D8-2061-E744-8A5B-9C481BBD1A5C}" type="slidenum">
              <a:rPr lang="en-US" smtClean="0"/>
              <a:t>‹#›</a:t>
            </a:fld>
            <a:endParaRPr lang="en-US"/>
          </a:p>
        </p:txBody>
      </p:sp>
    </p:spTree>
    <p:extLst>
      <p:ext uri="{BB962C8B-B14F-4D97-AF65-F5344CB8AC3E}">
        <p14:creationId xmlns:p14="http://schemas.microsoft.com/office/powerpoint/2010/main" val="3799146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Hi, we're team </a:t>
            </a:r>
            <a:r>
              <a:rPr lang="en-US" sz="1200" b="0" kern="1200" dirty="0" err="1">
                <a:solidFill>
                  <a:schemeClr val="tx1"/>
                </a:solidFill>
                <a:effectLst/>
                <a:latin typeface="+mn-lt"/>
                <a:ea typeface="+mn-ea"/>
                <a:cs typeface="+mn-cs"/>
              </a:rPr>
              <a:t>NeuroBytes</a:t>
            </a:r>
            <a:r>
              <a:rPr lang="en-US" sz="1200" b="0" kern="1200" dirty="0">
                <a:solidFill>
                  <a:schemeClr val="tx1"/>
                </a:solidFill>
                <a:effectLst/>
                <a:latin typeface="+mn-lt"/>
                <a:ea typeface="+mn-ea"/>
                <a:cs typeface="+mn-cs"/>
              </a:rPr>
              <a:t>: Sushruth </a:t>
            </a:r>
            <a:r>
              <a:rPr lang="en-US" sz="1200" b="0" kern="1200" dirty="0" err="1">
                <a:solidFill>
                  <a:schemeClr val="tx1"/>
                </a:solidFill>
                <a:effectLst/>
                <a:latin typeface="+mn-lt"/>
                <a:ea typeface="+mn-ea"/>
                <a:cs typeface="+mn-cs"/>
              </a:rPr>
              <a:t>Shivaraju</a:t>
            </a:r>
            <a:r>
              <a:rPr lang="en-US" sz="1200" b="0" kern="1200" dirty="0">
                <a:solidFill>
                  <a:schemeClr val="tx1"/>
                </a:solidFill>
                <a:effectLst/>
                <a:latin typeface="+mn-lt"/>
                <a:ea typeface="+mn-ea"/>
                <a:cs typeface="+mn-cs"/>
              </a:rPr>
              <a:t> and Ayush Shetty. Our question was simple: can you tell which video someone watched, just from their brain activity? We take three seconds of EEG from 17 electrodes over the visual cortex and rank 102 candidate videos. The model never sees the video at test time, only the brain signal. Our final system, C13, puts the right video first 36% of the time and in the top five 67% of the time. Chance is under one percent, so that's about 37 times better than guessing.</a:t>
            </a:r>
          </a:p>
          <a:p>
            <a:endParaRPr lang="en-US" dirty="0"/>
          </a:p>
        </p:txBody>
      </p:sp>
      <p:sp>
        <p:nvSpPr>
          <p:cNvPr id="4" name="Slide Number Placeholder 3"/>
          <p:cNvSpPr>
            <a:spLocks noGrp="1"/>
          </p:cNvSpPr>
          <p:nvPr>
            <p:ph type="sldNum" sz="quarter" idx="5"/>
          </p:nvPr>
        </p:nvSpPr>
        <p:spPr/>
        <p:txBody>
          <a:bodyPr/>
          <a:lstStyle/>
          <a:p>
            <a:fld id="{AF7C77D8-2061-E744-8A5B-9C481BBD1A5C}" type="slidenum">
              <a:rPr lang="en-US" smtClean="0"/>
              <a:t>1</a:t>
            </a:fld>
            <a:endParaRPr lang="en-US"/>
          </a:p>
        </p:txBody>
      </p:sp>
    </p:spTree>
    <p:extLst>
      <p:ext uri="{BB962C8B-B14F-4D97-AF65-F5344CB8AC3E}">
        <p14:creationId xmlns:p14="http://schemas.microsoft.com/office/powerpoint/2010/main" val="4264617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Here's how it works, in five steps. First, record: three seconds of EEG while a clip plays. Second, window: we only look at the first 700 milliseconds after the clip starts; more on why in a moment. Third, decode: we map the EEG onto features from deep video models like V-JEPA, CLIP and DINOv2, plus audio. Fourth, fuse: about 650 separate scorers each produce a ranking, and we combine them by rank, so they never need to be calibrated against each other. Fifth, balance: we remove "hub" videos that look like a match for everything, and use Sinkhorn so each video is picked roughly once. Every setting was chosen on held-out training videos. The test set was only used to measure the result.</a:t>
            </a:r>
          </a:p>
          <a:p>
            <a:endParaRPr lang="en-US" dirty="0"/>
          </a:p>
        </p:txBody>
      </p:sp>
      <p:sp>
        <p:nvSpPr>
          <p:cNvPr id="4" name="Slide Number Placeholder 3"/>
          <p:cNvSpPr>
            <a:spLocks noGrp="1"/>
          </p:cNvSpPr>
          <p:nvPr>
            <p:ph type="sldNum" sz="quarter" idx="5"/>
          </p:nvPr>
        </p:nvSpPr>
        <p:spPr/>
        <p:txBody>
          <a:bodyPr/>
          <a:lstStyle/>
          <a:p>
            <a:fld id="{AF7C77D8-2061-E744-8A5B-9C481BBD1A5C}" type="slidenum">
              <a:rPr lang="en-US" smtClean="0"/>
              <a:t>2</a:t>
            </a:fld>
            <a:endParaRPr lang="en-US"/>
          </a:p>
        </p:txBody>
      </p:sp>
    </p:spTree>
    <p:extLst>
      <p:ext uri="{BB962C8B-B14F-4D97-AF65-F5344CB8AC3E}">
        <p14:creationId xmlns:p14="http://schemas.microsoft.com/office/powerpoint/2010/main" val="2868020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This chart is the whole journey. Our first ridge baseline, J1, got 11% top-1. The </a:t>
            </a:r>
            <a:r>
              <a:rPr lang="en-US" sz="1200" b="0" kern="1200" dirty="0" err="1">
                <a:solidFill>
                  <a:schemeClr val="tx1"/>
                </a:solidFill>
                <a:effectLst/>
                <a:latin typeface="+mn-lt"/>
                <a:ea typeface="+mn-ea"/>
                <a:cs typeface="+mn-cs"/>
              </a:rPr>
              <a:t>winfuse</a:t>
            </a:r>
            <a:r>
              <a:rPr lang="en-US" sz="1200" b="0" kern="1200" dirty="0">
                <a:solidFill>
                  <a:schemeClr val="tx1"/>
                </a:solidFill>
                <a:effectLst/>
                <a:latin typeface="+mn-lt"/>
                <a:ea typeface="+mn-ea"/>
                <a:cs typeface="+mn-cs"/>
              </a:rPr>
              <a:t> pipeline, with 509 latency-window scorers, more than doubled that to 23%. Combining both pipelines took us to 26 and a half. Correcting for hubness pushed top-five past 62%. Cross-person alignment and Sinkhorn balancing reached 66.7% top-five. Finally, two contrastive neural networks trained across all six people gave C13: 36% top-one, 67% top-five. Every step stayed in only if it improved validation.</a:t>
            </a:r>
          </a:p>
          <a:p>
            <a:endParaRPr lang="en-US" dirty="0"/>
          </a:p>
        </p:txBody>
      </p:sp>
      <p:sp>
        <p:nvSpPr>
          <p:cNvPr id="4" name="Slide Number Placeholder 3"/>
          <p:cNvSpPr>
            <a:spLocks noGrp="1"/>
          </p:cNvSpPr>
          <p:nvPr>
            <p:ph type="sldNum" sz="quarter" idx="5"/>
          </p:nvPr>
        </p:nvSpPr>
        <p:spPr/>
        <p:txBody>
          <a:bodyPr/>
          <a:lstStyle/>
          <a:p>
            <a:fld id="{AF7C77D8-2061-E744-8A5B-9C481BBD1A5C}" type="slidenum">
              <a:rPr lang="en-US" smtClean="0"/>
              <a:t>3</a:t>
            </a:fld>
            <a:endParaRPr lang="en-US"/>
          </a:p>
        </p:txBody>
      </p:sp>
    </p:spTree>
    <p:extLst>
      <p:ext uri="{BB962C8B-B14F-4D97-AF65-F5344CB8AC3E}">
        <p14:creationId xmlns:p14="http://schemas.microsoft.com/office/powerpoint/2010/main" val="33361129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The most important finding is about timing. Here we decode from one time window at a time, and a lower bar means the right video ranks higher. The best window is 50 to 400 milliseconds after the clip starts. That is exactly where visual neuroscience places the P1 and N1 responses that encode objects and faces. After about 800 milliseconds, every window sits at chance, the line across the top. So most of a three-second recording says nothing about which video is on screen. Our biggest gain didn't come from a bigger model. It came from knowing when to look.</a:t>
            </a:r>
          </a:p>
          <a:p>
            <a:endParaRPr lang="en-US" dirty="0"/>
          </a:p>
        </p:txBody>
      </p:sp>
      <p:sp>
        <p:nvSpPr>
          <p:cNvPr id="4" name="Slide Number Placeholder 3"/>
          <p:cNvSpPr>
            <a:spLocks noGrp="1"/>
          </p:cNvSpPr>
          <p:nvPr>
            <p:ph type="sldNum" sz="quarter" idx="5"/>
          </p:nvPr>
        </p:nvSpPr>
        <p:spPr/>
        <p:txBody>
          <a:bodyPr/>
          <a:lstStyle/>
          <a:p>
            <a:fld id="{AF7C77D8-2061-E744-8A5B-9C481BBD1A5C}" type="slidenum">
              <a:rPr lang="en-US" smtClean="0"/>
              <a:t>4</a:t>
            </a:fld>
            <a:endParaRPr lang="en-US"/>
          </a:p>
        </p:txBody>
      </p:sp>
    </p:spTree>
    <p:extLst>
      <p:ext uri="{BB962C8B-B14F-4D97-AF65-F5344CB8AC3E}">
        <p14:creationId xmlns:p14="http://schemas.microsoft.com/office/powerpoint/2010/main" val="2845625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So why does it work? Four lessons. One: the decodable signal is the onset response. Two: the structure of the task matters. Removing hubs and balancing with Sinkhorn added about six points of top-one without touching the EEG at all. Three: you can learn from other people's brains, but only after aligning them. Every head mixes the signals differently, and pooling without alignment actually hurts. Four: it's robust. Rebuilding from scratch is bit-identical, and new random seeds stay within one standard error. The misses are mostly noise, not hard videos; the right answer is usually in the top five. With more repeats per clip and larger pretrained EEG models, we think this can go further. Thank you.</a:t>
            </a:r>
          </a:p>
          <a:p>
            <a:br>
              <a:rPr lang="en-US" sz="1200" b="0" kern="1200">
                <a:solidFill>
                  <a:schemeClr val="tx1"/>
                </a:solidFill>
                <a:effectLst/>
                <a:latin typeface="+mn-lt"/>
                <a:ea typeface="+mn-ea"/>
                <a:cs typeface="+mn-cs"/>
              </a:rPr>
            </a:br>
            <a:endParaRPr lang="en-US" sz="1200" b="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AF7C77D8-2061-E744-8A5B-9C481BBD1A5C}" type="slidenum">
              <a:rPr lang="en-US" smtClean="0"/>
              <a:t>5</a:t>
            </a:fld>
            <a:endParaRPr lang="en-US"/>
          </a:p>
        </p:txBody>
      </p:sp>
    </p:spTree>
    <p:extLst>
      <p:ext uri="{BB962C8B-B14F-4D97-AF65-F5344CB8AC3E}">
        <p14:creationId xmlns:p14="http://schemas.microsoft.com/office/powerpoint/2010/main" val="907271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EF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503920" y="-1280160"/>
            <a:ext cx="5029200" cy="3657600"/>
          </a:xfrm>
          <a:prstGeom prst="roundRect">
            <a:avLst>
              <a:gd name="adj" fmla="val 50000"/>
            </a:avLst>
          </a:prstGeom>
          <a:solidFill>
            <a:srgbClr val="F3EB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463040" y="1463040"/>
            <a:ext cx="4206240" cy="3291840"/>
          </a:xfrm>
          <a:prstGeom prst="roundRect">
            <a:avLst>
              <a:gd name="adj" fmla="val 50000"/>
            </a:avLst>
          </a:prstGeom>
          <a:solidFill>
            <a:srgbClr val="EEE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128016"/>
          </a:xfrm>
          <a:prstGeom prst="rect">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Isosceles Triangle 5"/>
          <p:cNvSpPr/>
          <p:nvPr/>
        </p:nvSpPr>
        <p:spPr>
          <a:xfrm>
            <a:off x="594360" y="457200"/>
            <a:ext cx="384048" cy="384048"/>
          </a:xfrm>
          <a:prstGeom prst="triangle">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475488"/>
            <a:ext cx="5486400" cy="365760"/>
          </a:xfrm>
          <a:prstGeom prst="rect">
            <a:avLst/>
          </a:prstGeom>
          <a:noFill/>
        </p:spPr>
        <p:txBody>
          <a:bodyPr wrap="square" lIns="25400" tIns="25400" rIns="25400" bIns="25400" anchor="t">
            <a:spAutoFit/>
          </a:bodyPr>
          <a:lstStyle/>
          <a:p>
            <a:pPr algn="l">
              <a:lnSpc>
                <a:spcPct val="100000"/>
              </a:lnSpc>
              <a:spcAft>
                <a:spcPts val="400"/>
              </a:spcAft>
            </a:pPr>
            <a:r>
              <a:rPr sz="1400" b="1">
                <a:solidFill>
                  <a:srgbClr val="2D331A"/>
                </a:solidFill>
                <a:latin typeface="Inter"/>
              </a:rPr>
              <a:t>NEUROBYTES</a:t>
            </a:r>
          </a:p>
        </p:txBody>
      </p:sp>
      <p:sp>
        <p:nvSpPr>
          <p:cNvPr id="8" name="TextBox 7"/>
          <p:cNvSpPr txBox="1"/>
          <p:nvPr/>
        </p:nvSpPr>
        <p:spPr>
          <a:xfrm>
            <a:off x="8229600" y="475488"/>
            <a:ext cx="3383280" cy="365760"/>
          </a:xfrm>
          <a:prstGeom prst="rect">
            <a:avLst/>
          </a:prstGeom>
          <a:noFill/>
        </p:spPr>
        <p:txBody>
          <a:bodyPr wrap="square" lIns="25400" tIns="25400" rIns="25400" bIns="25400" anchor="t">
            <a:spAutoFit/>
          </a:bodyPr>
          <a:lstStyle/>
          <a:p>
            <a:pPr algn="r">
              <a:lnSpc>
                <a:spcPct val="100000"/>
              </a:lnSpc>
              <a:spcAft>
                <a:spcPts val="400"/>
              </a:spcAft>
            </a:pPr>
            <a:r>
              <a:rPr sz="1050" b="1">
                <a:solidFill>
                  <a:srgbClr val="5B6635"/>
                </a:solidFill>
                <a:latin typeface="Inter"/>
              </a:rPr>
              <a:t>HOME   ANALYSIS   WHY IT WORKS</a:t>
            </a:r>
          </a:p>
        </p:txBody>
      </p:sp>
      <p:sp>
        <p:nvSpPr>
          <p:cNvPr id="9" name="Rectangle 8"/>
          <p:cNvSpPr/>
          <p:nvPr/>
        </p:nvSpPr>
        <p:spPr>
          <a:xfrm>
            <a:off x="594360" y="1517904"/>
            <a:ext cx="384048" cy="25603"/>
          </a:xfrm>
          <a:prstGeom prst="rect">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1417320"/>
            <a:ext cx="7315200" cy="320040"/>
          </a:xfrm>
          <a:prstGeom prst="rect">
            <a:avLst/>
          </a:prstGeom>
          <a:noFill/>
        </p:spPr>
        <p:txBody>
          <a:bodyPr wrap="square" lIns="25400" tIns="25400" rIns="25400" bIns="25400" anchor="t">
            <a:spAutoFit/>
          </a:bodyPr>
          <a:lstStyle/>
          <a:p>
            <a:pPr algn="l">
              <a:lnSpc>
                <a:spcPct val="100000"/>
              </a:lnSpc>
              <a:spcAft>
                <a:spcPts val="400"/>
              </a:spcAft>
            </a:pPr>
            <a:r>
              <a:rPr sz="1150" b="1">
                <a:solidFill>
                  <a:srgbClr val="5B6635"/>
                </a:solidFill>
                <a:latin typeface="Inter"/>
              </a:rPr>
              <a:t>EEG-TO-VIDEO RETRIEVAL</a:t>
            </a:r>
          </a:p>
        </p:txBody>
      </p:sp>
      <p:sp>
        <p:nvSpPr>
          <p:cNvPr id="11" name="TextBox 10"/>
          <p:cNvSpPr txBox="1"/>
          <p:nvPr/>
        </p:nvSpPr>
        <p:spPr>
          <a:xfrm>
            <a:off x="548640" y="1783080"/>
            <a:ext cx="8046720" cy="1920240"/>
          </a:xfrm>
          <a:prstGeom prst="rect">
            <a:avLst/>
          </a:prstGeom>
          <a:noFill/>
        </p:spPr>
        <p:txBody>
          <a:bodyPr wrap="square" lIns="25400" tIns="25400" rIns="25400" bIns="25400" anchor="t">
            <a:spAutoFit/>
          </a:bodyPr>
          <a:lstStyle/>
          <a:p>
            <a:pPr algn="l">
              <a:lnSpc>
                <a:spcPct val="95000"/>
              </a:lnSpc>
              <a:spcAft>
                <a:spcPts val="0"/>
              </a:spcAft>
            </a:pPr>
            <a:r>
              <a:rPr sz="5600" b="0">
                <a:solidFill>
                  <a:srgbClr val="2D331A"/>
                </a:solidFill>
                <a:latin typeface="Inter"/>
              </a:rPr>
              <a:t>See what the brain</a:t>
            </a:r>
          </a:p>
          <a:p>
            <a:pPr algn="l">
              <a:lnSpc>
                <a:spcPct val="95000"/>
              </a:lnSpc>
              <a:spcAft>
                <a:spcPts val="0"/>
              </a:spcAft>
            </a:pPr>
            <a:r>
              <a:rPr sz="5600" b="0">
                <a:solidFill>
                  <a:srgbClr val="5B6635"/>
                </a:solidFill>
                <a:latin typeface="Inter"/>
              </a:rPr>
              <a:t>watched.</a:t>
            </a:r>
          </a:p>
        </p:txBody>
      </p:sp>
      <p:sp>
        <p:nvSpPr>
          <p:cNvPr id="12" name="TextBox 11"/>
          <p:cNvSpPr txBox="1"/>
          <p:nvPr/>
        </p:nvSpPr>
        <p:spPr>
          <a:xfrm>
            <a:off x="548640" y="3703320"/>
            <a:ext cx="6766560" cy="1097280"/>
          </a:xfrm>
          <a:prstGeom prst="rect">
            <a:avLst/>
          </a:prstGeom>
          <a:noFill/>
        </p:spPr>
        <p:txBody>
          <a:bodyPr wrap="square" lIns="25400" tIns="25400" rIns="25400" bIns="25400" anchor="t">
            <a:spAutoFit/>
          </a:bodyPr>
          <a:lstStyle/>
          <a:p>
            <a:pPr algn="l">
              <a:lnSpc>
                <a:spcPct val="115000"/>
              </a:lnSpc>
              <a:spcAft>
                <a:spcPts val="400"/>
              </a:spcAft>
            </a:pPr>
            <a:r>
              <a:rPr sz="1500" b="0">
                <a:solidFill>
                  <a:srgbClr val="5B6635"/>
                </a:solidFill>
                <a:latin typeface="Inter"/>
              </a:rPr>
              <a:t>From three seconds of EEG over the visual cortex, NeuroBytes ranks 102 candidate videos and finds the one the person was watching. No video is shown to the model at test time, only brain activity.</a:t>
            </a:r>
          </a:p>
        </p:txBody>
      </p:sp>
      <p:sp>
        <p:nvSpPr>
          <p:cNvPr id="13" name="TextBox 12"/>
          <p:cNvSpPr txBox="1"/>
          <p:nvPr/>
        </p:nvSpPr>
        <p:spPr>
          <a:xfrm>
            <a:off x="548640" y="5074920"/>
            <a:ext cx="1783080" cy="548640"/>
          </a:xfrm>
          <a:prstGeom prst="rect">
            <a:avLst/>
          </a:prstGeom>
          <a:noFill/>
        </p:spPr>
        <p:txBody>
          <a:bodyPr wrap="square" lIns="25400" tIns="25400" rIns="25400" bIns="25400" anchor="t">
            <a:spAutoFit/>
          </a:bodyPr>
          <a:lstStyle/>
          <a:p>
            <a:pPr algn="l">
              <a:lnSpc>
                <a:spcPct val="100000"/>
              </a:lnSpc>
              <a:spcAft>
                <a:spcPts val="400"/>
              </a:spcAft>
            </a:pPr>
            <a:r>
              <a:rPr sz="3000" b="0">
                <a:solidFill>
                  <a:srgbClr val="2D331A"/>
                </a:solidFill>
                <a:latin typeface="Inter"/>
              </a:rPr>
              <a:t>36.03%</a:t>
            </a:r>
          </a:p>
        </p:txBody>
      </p:sp>
      <p:sp>
        <p:nvSpPr>
          <p:cNvPr id="14" name="TextBox 13"/>
          <p:cNvSpPr txBox="1"/>
          <p:nvPr/>
        </p:nvSpPr>
        <p:spPr>
          <a:xfrm>
            <a:off x="548640" y="5623560"/>
            <a:ext cx="1783080" cy="548640"/>
          </a:xfrm>
          <a:prstGeom prst="rect">
            <a:avLst/>
          </a:prstGeom>
          <a:noFill/>
        </p:spPr>
        <p:txBody>
          <a:bodyPr wrap="square" lIns="25400" tIns="25400" rIns="25400" bIns="25400" anchor="t">
            <a:spAutoFit/>
          </a:bodyPr>
          <a:lstStyle/>
          <a:p>
            <a:pPr algn="l">
              <a:lnSpc>
                <a:spcPct val="100000"/>
              </a:lnSpc>
              <a:spcAft>
                <a:spcPts val="400"/>
              </a:spcAft>
            </a:pPr>
            <a:r>
              <a:rPr sz="900" b="1">
                <a:solidFill>
                  <a:srgbClr val="5B6635"/>
                </a:solidFill>
                <a:latin typeface="Inter"/>
              </a:rPr>
              <a:t>TOP-1 · CHANCE 0.98%</a:t>
            </a:r>
          </a:p>
        </p:txBody>
      </p:sp>
      <p:sp>
        <p:nvSpPr>
          <p:cNvPr id="15" name="TextBox 14"/>
          <p:cNvSpPr txBox="1"/>
          <p:nvPr/>
        </p:nvSpPr>
        <p:spPr>
          <a:xfrm>
            <a:off x="2377440" y="5074920"/>
            <a:ext cx="1783080" cy="548640"/>
          </a:xfrm>
          <a:prstGeom prst="rect">
            <a:avLst/>
          </a:prstGeom>
          <a:noFill/>
        </p:spPr>
        <p:txBody>
          <a:bodyPr wrap="square" lIns="25400" tIns="25400" rIns="25400" bIns="25400" anchor="t">
            <a:spAutoFit/>
          </a:bodyPr>
          <a:lstStyle/>
          <a:p>
            <a:pPr algn="l">
              <a:lnSpc>
                <a:spcPct val="100000"/>
              </a:lnSpc>
              <a:spcAft>
                <a:spcPts val="400"/>
              </a:spcAft>
            </a:pPr>
            <a:r>
              <a:rPr sz="3000" b="0">
                <a:solidFill>
                  <a:srgbClr val="2D331A"/>
                </a:solidFill>
                <a:latin typeface="Inter"/>
              </a:rPr>
              <a:t>67.16%</a:t>
            </a:r>
          </a:p>
        </p:txBody>
      </p:sp>
      <p:sp>
        <p:nvSpPr>
          <p:cNvPr id="16" name="TextBox 15"/>
          <p:cNvSpPr txBox="1"/>
          <p:nvPr/>
        </p:nvSpPr>
        <p:spPr>
          <a:xfrm>
            <a:off x="2377440" y="5623560"/>
            <a:ext cx="1783080" cy="548640"/>
          </a:xfrm>
          <a:prstGeom prst="rect">
            <a:avLst/>
          </a:prstGeom>
          <a:noFill/>
        </p:spPr>
        <p:txBody>
          <a:bodyPr wrap="square" lIns="25400" tIns="25400" rIns="25400" bIns="25400" anchor="t">
            <a:spAutoFit/>
          </a:bodyPr>
          <a:lstStyle/>
          <a:p>
            <a:pPr algn="l">
              <a:lnSpc>
                <a:spcPct val="100000"/>
              </a:lnSpc>
              <a:spcAft>
                <a:spcPts val="400"/>
              </a:spcAft>
            </a:pPr>
            <a:r>
              <a:rPr sz="900" b="1">
                <a:solidFill>
                  <a:srgbClr val="5B6635"/>
                </a:solidFill>
                <a:latin typeface="Inter"/>
              </a:rPr>
              <a:t>TOP-5 · CHANCE 4.9%</a:t>
            </a:r>
          </a:p>
        </p:txBody>
      </p:sp>
      <p:sp>
        <p:nvSpPr>
          <p:cNvPr id="17" name="TextBox 16"/>
          <p:cNvSpPr txBox="1"/>
          <p:nvPr/>
        </p:nvSpPr>
        <p:spPr>
          <a:xfrm>
            <a:off x="4206240" y="5074920"/>
            <a:ext cx="1783080" cy="548640"/>
          </a:xfrm>
          <a:prstGeom prst="rect">
            <a:avLst/>
          </a:prstGeom>
          <a:noFill/>
        </p:spPr>
        <p:txBody>
          <a:bodyPr wrap="square" lIns="25400" tIns="25400" rIns="25400" bIns="25400" anchor="t">
            <a:spAutoFit/>
          </a:bodyPr>
          <a:lstStyle/>
          <a:p>
            <a:pPr algn="l">
              <a:lnSpc>
                <a:spcPct val="100000"/>
              </a:lnSpc>
              <a:spcAft>
                <a:spcPts val="400"/>
              </a:spcAft>
            </a:pPr>
            <a:r>
              <a:rPr sz="3000" b="0">
                <a:solidFill>
                  <a:srgbClr val="2D331A"/>
                </a:solidFill>
                <a:latin typeface="Inter"/>
              </a:rPr>
              <a:t>5.99</a:t>
            </a:r>
          </a:p>
        </p:txBody>
      </p:sp>
      <p:sp>
        <p:nvSpPr>
          <p:cNvPr id="18" name="TextBox 17"/>
          <p:cNvSpPr txBox="1"/>
          <p:nvPr/>
        </p:nvSpPr>
        <p:spPr>
          <a:xfrm>
            <a:off x="4206240" y="5623560"/>
            <a:ext cx="1783080" cy="548640"/>
          </a:xfrm>
          <a:prstGeom prst="rect">
            <a:avLst/>
          </a:prstGeom>
          <a:noFill/>
        </p:spPr>
        <p:txBody>
          <a:bodyPr wrap="square" lIns="25400" tIns="25400" rIns="25400" bIns="25400" anchor="t">
            <a:spAutoFit/>
          </a:bodyPr>
          <a:lstStyle/>
          <a:p>
            <a:pPr algn="l">
              <a:lnSpc>
                <a:spcPct val="100000"/>
              </a:lnSpc>
              <a:spcAft>
                <a:spcPts val="400"/>
              </a:spcAft>
            </a:pPr>
            <a:r>
              <a:rPr sz="900" b="1">
                <a:solidFill>
                  <a:srgbClr val="5B6635"/>
                </a:solidFill>
                <a:latin typeface="Inter"/>
              </a:rPr>
              <a:t>MEAN RANK OF 102</a:t>
            </a:r>
          </a:p>
        </p:txBody>
      </p:sp>
      <p:sp>
        <p:nvSpPr>
          <p:cNvPr id="19" name="TextBox 18"/>
          <p:cNvSpPr txBox="1"/>
          <p:nvPr/>
        </p:nvSpPr>
        <p:spPr>
          <a:xfrm>
            <a:off x="6035040" y="5074920"/>
            <a:ext cx="1783080" cy="548640"/>
          </a:xfrm>
          <a:prstGeom prst="rect">
            <a:avLst/>
          </a:prstGeom>
          <a:noFill/>
        </p:spPr>
        <p:txBody>
          <a:bodyPr wrap="square" lIns="25400" tIns="25400" rIns="25400" bIns="25400" anchor="t">
            <a:spAutoFit/>
          </a:bodyPr>
          <a:lstStyle/>
          <a:p>
            <a:pPr algn="l">
              <a:lnSpc>
                <a:spcPct val="100000"/>
              </a:lnSpc>
              <a:spcAft>
                <a:spcPts val="400"/>
              </a:spcAft>
            </a:pPr>
            <a:r>
              <a:rPr sz="3000" b="0">
                <a:solidFill>
                  <a:srgbClr val="2D331A"/>
                </a:solidFill>
                <a:latin typeface="Inter"/>
              </a:rPr>
              <a:t>×37</a:t>
            </a:r>
          </a:p>
        </p:txBody>
      </p:sp>
      <p:sp>
        <p:nvSpPr>
          <p:cNvPr id="20" name="TextBox 19"/>
          <p:cNvSpPr txBox="1"/>
          <p:nvPr/>
        </p:nvSpPr>
        <p:spPr>
          <a:xfrm>
            <a:off x="6035040" y="5623560"/>
            <a:ext cx="1783080" cy="548640"/>
          </a:xfrm>
          <a:prstGeom prst="rect">
            <a:avLst/>
          </a:prstGeom>
          <a:noFill/>
        </p:spPr>
        <p:txBody>
          <a:bodyPr wrap="square" lIns="25400" tIns="25400" rIns="25400" bIns="25400" anchor="t">
            <a:spAutoFit/>
          </a:bodyPr>
          <a:lstStyle/>
          <a:p>
            <a:pPr algn="l">
              <a:lnSpc>
                <a:spcPct val="100000"/>
              </a:lnSpc>
              <a:spcAft>
                <a:spcPts val="400"/>
              </a:spcAft>
            </a:pPr>
            <a:r>
              <a:rPr sz="900" b="1">
                <a:solidFill>
                  <a:srgbClr val="5B6635"/>
                </a:solidFill>
                <a:latin typeface="Inter"/>
              </a:rPr>
              <a:t>BETTER THAN CHANCE</a:t>
            </a:r>
          </a:p>
        </p:txBody>
      </p:sp>
      <p:sp>
        <p:nvSpPr>
          <p:cNvPr id="21" name="Rectangle 20"/>
          <p:cNvSpPr/>
          <p:nvPr/>
        </p:nvSpPr>
        <p:spPr>
          <a:xfrm>
            <a:off x="9052560" y="2194560"/>
            <a:ext cx="2560320" cy="2560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529315" y="2985515"/>
            <a:ext cx="64008" cy="64008"/>
          </a:xfrm>
          <a:prstGeom prst="ellipse">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435578" y="3211818"/>
            <a:ext cx="64008" cy="64008"/>
          </a:xfrm>
          <a:prstGeom prst="ellipse">
            <a:avLst/>
          </a:prstGeom>
          <a:solidFill>
            <a:srgbClr val="966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209276" y="3305556"/>
            <a:ext cx="64008" cy="64008"/>
          </a:xfrm>
          <a:prstGeom prst="ellipse">
            <a:avLst/>
          </a:prstGeom>
          <a:solidFill>
            <a:srgbClr val="A57B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982973" y="3211818"/>
            <a:ext cx="64008" cy="64008"/>
          </a:xfrm>
          <a:prstGeom prst="ellipse">
            <a:avLst/>
          </a:prstGeom>
          <a:solidFill>
            <a:srgbClr val="798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889236" y="2985515"/>
            <a:ext cx="64008" cy="64008"/>
          </a:xfrm>
          <a:prstGeom prst="ellipse">
            <a:avLst/>
          </a:prstGeom>
          <a:solidFill>
            <a:srgbClr val="644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982973" y="2759213"/>
            <a:ext cx="64008" cy="64008"/>
          </a:xfrm>
          <a:prstGeom prst="ellipse">
            <a:avLst/>
          </a:prstGeom>
          <a:solidFill>
            <a:srgbClr val="5D5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0209276" y="2665475"/>
            <a:ext cx="64008" cy="64008"/>
          </a:xfrm>
          <a:prstGeom prst="ellipse">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0435578" y="2759213"/>
            <a:ext cx="64008" cy="64008"/>
          </a:xfrm>
          <a:prstGeom prst="ellipse">
            <a:avLst/>
          </a:prstGeom>
          <a:solidFill>
            <a:srgbClr val="966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0908123" y="3201694"/>
            <a:ext cx="64008" cy="64008"/>
          </a:xfrm>
          <a:prstGeom prst="ellipse">
            <a:avLst/>
          </a:prstGeom>
          <a:solidFill>
            <a:srgbClr val="A57B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745119" y="3483505"/>
            <a:ext cx="64008" cy="64008"/>
          </a:xfrm>
          <a:prstGeom prst="ellipse">
            <a:avLst/>
          </a:prstGeom>
          <a:solidFill>
            <a:srgbClr val="798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475984" y="3666682"/>
            <a:ext cx="64008" cy="64008"/>
          </a:xfrm>
          <a:prstGeom prst="ellipse">
            <a:avLst/>
          </a:prstGeom>
          <a:solidFill>
            <a:srgbClr val="644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154025" y="3714946"/>
            <a:ext cx="64008" cy="64008"/>
          </a:xfrm>
          <a:prstGeom prst="ellipse">
            <a:avLst/>
          </a:prstGeom>
          <a:solidFill>
            <a:srgbClr val="5D5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9843008" y="3618737"/>
            <a:ext cx="64008" cy="64008"/>
          </a:xfrm>
          <a:prstGeom prst="ellipse">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604536" y="3397111"/>
            <a:ext cx="64008" cy="64008"/>
          </a:xfrm>
          <a:prstGeom prst="ellipse">
            <a:avLst/>
          </a:prstGeom>
          <a:solidFill>
            <a:srgbClr val="966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9485839" y="3093964"/>
            <a:ext cx="64008" cy="64008"/>
          </a:xfrm>
          <a:prstGeom prst="ellipse">
            <a:avLst/>
          </a:prstGeom>
          <a:solidFill>
            <a:srgbClr val="A57B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9510428" y="2769337"/>
            <a:ext cx="64008" cy="64008"/>
          </a:xfrm>
          <a:prstGeom prst="ellipse">
            <a:avLst/>
          </a:prstGeom>
          <a:solidFill>
            <a:srgbClr val="798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9673432" y="2487526"/>
            <a:ext cx="64008" cy="64008"/>
          </a:xfrm>
          <a:prstGeom prst="ellipse">
            <a:avLst/>
          </a:prstGeom>
          <a:solidFill>
            <a:srgbClr val="644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9942567" y="2304349"/>
            <a:ext cx="64008" cy="64008"/>
          </a:xfrm>
          <a:prstGeom prst="ellipse">
            <a:avLst/>
          </a:prstGeom>
          <a:solidFill>
            <a:srgbClr val="5D5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264526" y="2256085"/>
            <a:ext cx="64008" cy="64008"/>
          </a:xfrm>
          <a:prstGeom prst="ellipse">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0575543" y="2352294"/>
            <a:ext cx="64008" cy="64008"/>
          </a:xfrm>
          <a:prstGeom prst="ellipse">
            <a:avLst/>
          </a:prstGeom>
          <a:solidFill>
            <a:srgbClr val="966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0814015" y="2573920"/>
            <a:ext cx="64008" cy="64008"/>
          </a:xfrm>
          <a:prstGeom prst="ellipse">
            <a:avLst/>
          </a:prstGeom>
          <a:solidFill>
            <a:srgbClr val="A57B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0932712" y="2877067"/>
            <a:ext cx="64008" cy="64008"/>
          </a:xfrm>
          <a:prstGeom prst="ellipse">
            <a:avLst/>
          </a:prstGeom>
          <a:solidFill>
            <a:srgbClr val="798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11152634" y="3630902"/>
            <a:ext cx="64008" cy="64008"/>
          </a:xfrm>
          <a:prstGeom prst="ellipse">
            <a:avLst/>
          </a:prstGeom>
          <a:solidFill>
            <a:srgbClr val="644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0907028" y="3890828"/>
            <a:ext cx="64008" cy="64008"/>
          </a:xfrm>
          <a:prstGeom prst="ellipse">
            <a:avLst/>
          </a:prstGeom>
          <a:solidFill>
            <a:srgbClr val="5D5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0593120" y="4062136"/>
            <a:ext cx="64008" cy="64008"/>
          </a:xfrm>
          <a:prstGeom prst="ellipse">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0241639" y="4128057"/>
            <a:ext cx="64008" cy="64008"/>
          </a:xfrm>
          <a:prstGeom prst="ellipse">
            <a:avLst/>
          </a:prstGeom>
          <a:solidFill>
            <a:srgbClr val="966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9886990" y="4082138"/>
            <a:ext cx="64008" cy="64008"/>
          </a:xfrm>
          <a:prstGeom prst="ellipse">
            <a:avLst/>
          </a:prstGeom>
          <a:solidFill>
            <a:srgbClr val="A57B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9563889" y="3928874"/>
            <a:ext cx="64008" cy="64008"/>
          </a:xfrm>
          <a:prstGeom prst="ellipse">
            <a:avLst/>
          </a:prstGeom>
          <a:solidFill>
            <a:srgbClr val="798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9303963" y="3683268"/>
            <a:ext cx="64008" cy="64008"/>
          </a:xfrm>
          <a:prstGeom prst="ellipse">
            <a:avLst/>
          </a:prstGeom>
          <a:solidFill>
            <a:srgbClr val="644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9132655" y="3369360"/>
            <a:ext cx="64008" cy="64008"/>
          </a:xfrm>
          <a:prstGeom prst="ellipse">
            <a:avLst/>
          </a:prstGeom>
          <a:solidFill>
            <a:srgbClr val="5D5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066734" y="3017879"/>
            <a:ext cx="64008" cy="64008"/>
          </a:xfrm>
          <a:prstGeom prst="ellipse">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9112653" y="2663230"/>
            <a:ext cx="64008" cy="64008"/>
          </a:xfrm>
          <a:prstGeom prst="ellipse">
            <a:avLst/>
          </a:prstGeom>
          <a:solidFill>
            <a:srgbClr val="966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9265917" y="2340129"/>
            <a:ext cx="64008" cy="64008"/>
          </a:xfrm>
          <a:prstGeom prst="ellipse">
            <a:avLst/>
          </a:prstGeom>
          <a:solidFill>
            <a:srgbClr val="A57B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9511523" y="2080203"/>
            <a:ext cx="64008" cy="64008"/>
          </a:xfrm>
          <a:prstGeom prst="ellipse">
            <a:avLst/>
          </a:prstGeom>
          <a:solidFill>
            <a:srgbClr val="798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9825431" y="1908895"/>
            <a:ext cx="64008" cy="64008"/>
          </a:xfrm>
          <a:prstGeom prst="ellipse">
            <a:avLst/>
          </a:prstGeom>
          <a:solidFill>
            <a:srgbClr val="644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10176912" y="1842974"/>
            <a:ext cx="64008" cy="64008"/>
          </a:xfrm>
          <a:prstGeom prst="ellipse">
            <a:avLst/>
          </a:prstGeom>
          <a:solidFill>
            <a:srgbClr val="5D5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10531561" y="1888893"/>
            <a:ext cx="64008" cy="64008"/>
          </a:xfrm>
          <a:prstGeom prst="ellipse">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10854662" y="2042157"/>
            <a:ext cx="64008" cy="64008"/>
          </a:xfrm>
          <a:prstGeom prst="ellipse">
            <a:avLst/>
          </a:prstGeom>
          <a:solidFill>
            <a:srgbClr val="966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11114588" y="2287763"/>
            <a:ext cx="64008" cy="64008"/>
          </a:xfrm>
          <a:prstGeom prst="ellipse">
            <a:avLst/>
          </a:prstGeom>
          <a:solidFill>
            <a:srgbClr val="A57B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11285896" y="2601671"/>
            <a:ext cx="64008" cy="64008"/>
          </a:xfrm>
          <a:prstGeom prst="ellipse">
            <a:avLst/>
          </a:prstGeom>
          <a:solidFill>
            <a:srgbClr val="798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11351817" y="2953152"/>
            <a:ext cx="64008" cy="64008"/>
          </a:xfrm>
          <a:prstGeom prst="ellipse">
            <a:avLst/>
          </a:prstGeom>
          <a:solidFill>
            <a:srgbClr val="644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11305898" y="3307801"/>
            <a:ext cx="64008" cy="64008"/>
          </a:xfrm>
          <a:prstGeom prst="ellipse">
            <a:avLst/>
          </a:prstGeom>
          <a:solidFill>
            <a:srgbClr val="5D5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48640" y="6355080"/>
            <a:ext cx="8229600" cy="365760"/>
          </a:xfrm>
          <a:prstGeom prst="rect">
            <a:avLst/>
          </a:prstGeom>
          <a:noFill/>
        </p:spPr>
        <p:txBody>
          <a:bodyPr wrap="square" lIns="25400" tIns="25400" rIns="25400" bIns="25400" anchor="t">
            <a:spAutoFit/>
          </a:bodyPr>
          <a:lstStyle/>
          <a:p>
            <a:pPr algn="l">
              <a:lnSpc>
                <a:spcPct val="100000"/>
              </a:lnSpc>
              <a:spcAft>
                <a:spcPts val="400"/>
              </a:spcAft>
            </a:pPr>
            <a:r>
              <a:rPr sz="1000" b="1">
                <a:solidFill>
                  <a:srgbClr val="5B6635"/>
                </a:solidFill>
                <a:latin typeface="Inter"/>
              </a:rPr>
              <a:t>Team NeuroBytes — Sushruth Shivaraju &amp; Ayush Shetty</a:t>
            </a:r>
          </a:p>
        </p:txBody>
      </p:sp>
      <p:sp>
        <p:nvSpPr>
          <p:cNvPr id="65" name="TextBox 64"/>
          <p:cNvSpPr txBox="1"/>
          <p:nvPr/>
        </p:nvSpPr>
        <p:spPr>
          <a:xfrm>
            <a:off x="10881360" y="6428232"/>
            <a:ext cx="822960" cy="320040"/>
          </a:xfrm>
          <a:prstGeom prst="rect">
            <a:avLst/>
          </a:prstGeom>
          <a:noFill/>
        </p:spPr>
        <p:txBody>
          <a:bodyPr wrap="square" lIns="25400" tIns="25400" rIns="25400" bIns="25400" anchor="t">
            <a:spAutoFit/>
          </a:bodyPr>
          <a:lstStyle/>
          <a:p>
            <a:pPr algn="r">
              <a:lnSpc>
                <a:spcPct val="100000"/>
              </a:lnSpc>
              <a:spcAft>
                <a:spcPts val="400"/>
              </a:spcAft>
            </a:pPr>
            <a:r>
              <a:rPr sz="900" b="1">
                <a:solidFill>
                  <a:srgbClr val="5B6635"/>
                </a:solidFill>
                <a:latin typeface="Inter"/>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EF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503920" y="-1280160"/>
            <a:ext cx="5029200" cy="3657600"/>
          </a:xfrm>
          <a:prstGeom prst="roundRect">
            <a:avLst>
              <a:gd name="adj" fmla="val 50000"/>
            </a:avLst>
          </a:prstGeom>
          <a:solidFill>
            <a:srgbClr val="F3EB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463040" y="1463040"/>
            <a:ext cx="4206240" cy="3291840"/>
          </a:xfrm>
          <a:prstGeom prst="roundRect">
            <a:avLst>
              <a:gd name="adj" fmla="val 50000"/>
            </a:avLst>
          </a:prstGeom>
          <a:solidFill>
            <a:srgbClr val="EEE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603504"/>
            <a:ext cx="384048" cy="25603"/>
          </a:xfrm>
          <a:prstGeom prst="rect">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502920"/>
            <a:ext cx="7315200" cy="320040"/>
          </a:xfrm>
          <a:prstGeom prst="rect">
            <a:avLst/>
          </a:prstGeom>
          <a:noFill/>
        </p:spPr>
        <p:txBody>
          <a:bodyPr wrap="square" lIns="25400" tIns="25400" rIns="25400" bIns="25400" anchor="t">
            <a:spAutoFit/>
          </a:bodyPr>
          <a:lstStyle/>
          <a:p>
            <a:pPr algn="l">
              <a:lnSpc>
                <a:spcPct val="100000"/>
              </a:lnSpc>
              <a:spcAft>
                <a:spcPts val="400"/>
              </a:spcAft>
            </a:pPr>
            <a:r>
              <a:rPr sz="1150" b="1">
                <a:solidFill>
                  <a:srgbClr val="5B6635"/>
                </a:solidFill>
                <a:latin typeface="Inter"/>
              </a:rPr>
              <a:t>HOW IT WORKS</a:t>
            </a:r>
          </a:p>
        </p:txBody>
      </p:sp>
      <p:sp>
        <p:nvSpPr>
          <p:cNvPr id="7" name="TextBox 6"/>
          <p:cNvSpPr txBox="1"/>
          <p:nvPr/>
        </p:nvSpPr>
        <p:spPr>
          <a:xfrm>
            <a:off x="548640" y="841248"/>
            <a:ext cx="11064240" cy="731520"/>
          </a:xfrm>
          <a:prstGeom prst="rect">
            <a:avLst/>
          </a:prstGeom>
          <a:noFill/>
        </p:spPr>
        <p:txBody>
          <a:bodyPr wrap="square" lIns="25400" tIns="25400" rIns="25400" bIns="25400" anchor="t">
            <a:spAutoFit/>
          </a:bodyPr>
          <a:lstStyle/>
          <a:p>
            <a:pPr algn="l">
              <a:lnSpc>
                <a:spcPct val="95000"/>
              </a:lnSpc>
              <a:spcAft>
                <a:spcPts val="0"/>
              </a:spcAft>
            </a:pPr>
            <a:r>
              <a:rPr sz="3000" b="0">
                <a:solidFill>
                  <a:srgbClr val="2D331A"/>
                </a:solidFill>
                <a:latin typeface="Inter"/>
              </a:rPr>
              <a:t>Three seconds, </a:t>
            </a:r>
            <a:r>
              <a:rPr sz="3000" b="0">
                <a:solidFill>
                  <a:srgbClr val="5B6635"/>
                </a:solidFill>
                <a:latin typeface="Inter"/>
              </a:rPr>
              <a:t>five steps.</a:t>
            </a:r>
          </a:p>
        </p:txBody>
      </p:sp>
      <p:sp>
        <p:nvSpPr>
          <p:cNvPr id="8" name="TextBox 7"/>
          <p:cNvSpPr txBox="1"/>
          <p:nvPr/>
        </p:nvSpPr>
        <p:spPr>
          <a:xfrm>
            <a:off x="594360" y="1865376"/>
            <a:ext cx="548640" cy="365760"/>
          </a:xfrm>
          <a:prstGeom prst="rect">
            <a:avLst/>
          </a:prstGeom>
          <a:noFill/>
        </p:spPr>
        <p:txBody>
          <a:bodyPr wrap="square" lIns="25400" tIns="25400" rIns="25400" bIns="25400" anchor="t">
            <a:spAutoFit/>
          </a:bodyPr>
          <a:lstStyle/>
          <a:p>
            <a:pPr algn="l">
              <a:lnSpc>
                <a:spcPct val="100000"/>
              </a:lnSpc>
              <a:spcAft>
                <a:spcPts val="400"/>
              </a:spcAft>
            </a:pPr>
            <a:r>
              <a:rPr sz="1300" b="0">
                <a:solidFill>
                  <a:srgbClr val="5B6635"/>
                </a:solidFill>
                <a:latin typeface="Inter"/>
              </a:rPr>
              <a:t>01</a:t>
            </a:r>
          </a:p>
        </p:txBody>
      </p:sp>
      <p:sp>
        <p:nvSpPr>
          <p:cNvPr id="9" name="TextBox 8"/>
          <p:cNvSpPr txBox="1"/>
          <p:nvPr/>
        </p:nvSpPr>
        <p:spPr>
          <a:xfrm>
            <a:off x="1143000" y="1792224"/>
            <a:ext cx="4846320" cy="365760"/>
          </a:xfrm>
          <a:prstGeom prst="rect">
            <a:avLst/>
          </a:prstGeom>
          <a:noFill/>
        </p:spPr>
        <p:txBody>
          <a:bodyPr wrap="square" lIns="25400" tIns="25400" rIns="25400" bIns="25400" anchor="t">
            <a:spAutoFit/>
          </a:bodyPr>
          <a:lstStyle/>
          <a:p>
            <a:pPr algn="l">
              <a:lnSpc>
                <a:spcPct val="100000"/>
              </a:lnSpc>
              <a:spcAft>
                <a:spcPts val="400"/>
              </a:spcAft>
            </a:pPr>
            <a:r>
              <a:rPr sz="1800" b="0">
                <a:solidFill>
                  <a:srgbClr val="2D331A"/>
                </a:solidFill>
                <a:latin typeface="Inter"/>
              </a:rPr>
              <a:t>Record</a:t>
            </a:r>
          </a:p>
        </p:txBody>
      </p:sp>
      <p:sp>
        <p:nvSpPr>
          <p:cNvPr id="10" name="TextBox 9"/>
          <p:cNvSpPr txBox="1"/>
          <p:nvPr/>
        </p:nvSpPr>
        <p:spPr>
          <a:xfrm>
            <a:off x="1143000" y="2130552"/>
            <a:ext cx="4846320" cy="320040"/>
          </a:xfrm>
          <a:prstGeom prst="rect">
            <a:avLst/>
          </a:prstGeom>
          <a:noFill/>
        </p:spPr>
        <p:txBody>
          <a:bodyPr wrap="square" lIns="25400" tIns="25400" rIns="25400" bIns="25400" anchor="t">
            <a:spAutoFit/>
          </a:bodyPr>
          <a:lstStyle/>
          <a:p>
            <a:pPr algn="l">
              <a:lnSpc>
                <a:spcPct val="100000"/>
              </a:lnSpc>
              <a:spcAft>
                <a:spcPts val="400"/>
              </a:spcAft>
            </a:pPr>
            <a:r>
              <a:rPr sz="1200" b="0">
                <a:solidFill>
                  <a:srgbClr val="5B6635"/>
                </a:solidFill>
                <a:latin typeface="Inter"/>
              </a:rPr>
              <a:t>3 s of EEG while a clip plays</a:t>
            </a:r>
          </a:p>
        </p:txBody>
      </p:sp>
      <p:sp>
        <p:nvSpPr>
          <p:cNvPr id="11" name="TextBox 10"/>
          <p:cNvSpPr txBox="1"/>
          <p:nvPr/>
        </p:nvSpPr>
        <p:spPr>
          <a:xfrm>
            <a:off x="594360" y="2615184"/>
            <a:ext cx="548640" cy="365760"/>
          </a:xfrm>
          <a:prstGeom prst="rect">
            <a:avLst/>
          </a:prstGeom>
          <a:noFill/>
        </p:spPr>
        <p:txBody>
          <a:bodyPr wrap="square" lIns="25400" tIns="25400" rIns="25400" bIns="25400" anchor="t">
            <a:spAutoFit/>
          </a:bodyPr>
          <a:lstStyle/>
          <a:p>
            <a:pPr algn="l">
              <a:lnSpc>
                <a:spcPct val="100000"/>
              </a:lnSpc>
              <a:spcAft>
                <a:spcPts val="400"/>
              </a:spcAft>
            </a:pPr>
            <a:r>
              <a:rPr sz="1300" b="0">
                <a:solidFill>
                  <a:srgbClr val="5B6635"/>
                </a:solidFill>
                <a:latin typeface="Inter"/>
              </a:rPr>
              <a:t>02</a:t>
            </a:r>
          </a:p>
        </p:txBody>
      </p:sp>
      <p:sp>
        <p:nvSpPr>
          <p:cNvPr id="12" name="TextBox 11"/>
          <p:cNvSpPr txBox="1"/>
          <p:nvPr/>
        </p:nvSpPr>
        <p:spPr>
          <a:xfrm>
            <a:off x="1143000" y="2542032"/>
            <a:ext cx="4846320" cy="365760"/>
          </a:xfrm>
          <a:prstGeom prst="rect">
            <a:avLst/>
          </a:prstGeom>
          <a:noFill/>
        </p:spPr>
        <p:txBody>
          <a:bodyPr wrap="square" lIns="25400" tIns="25400" rIns="25400" bIns="25400" anchor="t">
            <a:spAutoFit/>
          </a:bodyPr>
          <a:lstStyle/>
          <a:p>
            <a:pPr algn="l">
              <a:lnSpc>
                <a:spcPct val="100000"/>
              </a:lnSpc>
              <a:spcAft>
                <a:spcPts val="400"/>
              </a:spcAft>
            </a:pPr>
            <a:r>
              <a:rPr sz="1800" b="0">
                <a:solidFill>
                  <a:srgbClr val="2D331A"/>
                </a:solidFill>
                <a:latin typeface="Inter"/>
              </a:rPr>
              <a:t>Window</a:t>
            </a:r>
          </a:p>
        </p:txBody>
      </p:sp>
      <p:sp>
        <p:nvSpPr>
          <p:cNvPr id="13" name="TextBox 12"/>
          <p:cNvSpPr txBox="1"/>
          <p:nvPr/>
        </p:nvSpPr>
        <p:spPr>
          <a:xfrm>
            <a:off x="1143000" y="2880360"/>
            <a:ext cx="4846320" cy="320040"/>
          </a:xfrm>
          <a:prstGeom prst="rect">
            <a:avLst/>
          </a:prstGeom>
          <a:noFill/>
        </p:spPr>
        <p:txBody>
          <a:bodyPr wrap="square" lIns="25400" tIns="25400" rIns="25400" bIns="25400" anchor="t">
            <a:spAutoFit/>
          </a:bodyPr>
          <a:lstStyle/>
          <a:p>
            <a:pPr algn="l">
              <a:lnSpc>
                <a:spcPct val="100000"/>
              </a:lnSpc>
              <a:spcAft>
                <a:spcPts val="400"/>
              </a:spcAft>
            </a:pPr>
            <a:r>
              <a:rPr sz="1200" b="0">
                <a:solidFill>
                  <a:srgbClr val="5B6635"/>
                </a:solidFill>
                <a:latin typeface="Inter"/>
              </a:rPr>
              <a:t>0–700 ms after the clip starts</a:t>
            </a:r>
          </a:p>
        </p:txBody>
      </p:sp>
      <p:sp>
        <p:nvSpPr>
          <p:cNvPr id="14" name="TextBox 13"/>
          <p:cNvSpPr txBox="1"/>
          <p:nvPr/>
        </p:nvSpPr>
        <p:spPr>
          <a:xfrm>
            <a:off x="594360" y="3364991"/>
            <a:ext cx="548640" cy="365760"/>
          </a:xfrm>
          <a:prstGeom prst="rect">
            <a:avLst/>
          </a:prstGeom>
          <a:noFill/>
        </p:spPr>
        <p:txBody>
          <a:bodyPr wrap="square" lIns="25400" tIns="25400" rIns="25400" bIns="25400" anchor="t">
            <a:spAutoFit/>
          </a:bodyPr>
          <a:lstStyle/>
          <a:p>
            <a:pPr algn="l">
              <a:lnSpc>
                <a:spcPct val="100000"/>
              </a:lnSpc>
              <a:spcAft>
                <a:spcPts val="400"/>
              </a:spcAft>
            </a:pPr>
            <a:r>
              <a:rPr sz="1300" b="0">
                <a:solidFill>
                  <a:srgbClr val="5B6635"/>
                </a:solidFill>
                <a:latin typeface="Inter"/>
              </a:rPr>
              <a:t>03</a:t>
            </a:r>
          </a:p>
        </p:txBody>
      </p:sp>
      <p:sp>
        <p:nvSpPr>
          <p:cNvPr id="15" name="TextBox 14"/>
          <p:cNvSpPr txBox="1"/>
          <p:nvPr/>
        </p:nvSpPr>
        <p:spPr>
          <a:xfrm>
            <a:off x="1143000" y="3291839"/>
            <a:ext cx="4846320" cy="365760"/>
          </a:xfrm>
          <a:prstGeom prst="rect">
            <a:avLst/>
          </a:prstGeom>
          <a:noFill/>
        </p:spPr>
        <p:txBody>
          <a:bodyPr wrap="square" lIns="25400" tIns="25400" rIns="25400" bIns="25400" anchor="t">
            <a:spAutoFit/>
          </a:bodyPr>
          <a:lstStyle/>
          <a:p>
            <a:pPr algn="l">
              <a:lnSpc>
                <a:spcPct val="100000"/>
              </a:lnSpc>
              <a:spcAft>
                <a:spcPts val="400"/>
              </a:spcAft>
            </a:pPr>
            <a:r>
              <a:rPr sz="1800" b="0">
                <a:solidFill>
                  <a:srgbClr val="2D331A"/>
                </a:solidFill>
                <a:latin typeface="Inter"/>
              </a:rPr>
              <a:t>Decode</a:t>
            </a:r>
          </a:p>
        </p:txBody>
      </p:sp>
      <p:sp>
        <p:nvSpPr>
          <p:cNvPr id="16" name="TextBox 15"/>
          <p:cNvSpPr txBox="1"/>
          <p:nvPr/>
        </p:nvSpPr>
        <p:spPr>
          <a:xfrm>
            <a:off x="1143000" y="3630168"/>
            <a:ext cx="4846320" cy="320040"/>
          </a:xfrm>
          <a:prstGeom prst="rect">
            <a:avLst/>
          </a:prstGeom>
          <a:noFill/>
        </p:spPr>
        <p:txBody>
          <a:bodyPr wrap="square" lIns="25400" tIns="25400" rIns="25400" bIns="25400" anchor="t">
            <a:spAutoFit/>
          </a:bodyPr>
          <a:lstStyle/>
          <a:p>
            <a:pPr algn="l">
              <a:lnSpc>
                <a:spcPct val="100000"/>
              </a:lnSpc>
              <a:spcAft>
                <a:spcPts val="400"/>
              </a:spcAft>
            </a:pPr>
            <a:r>
              <a:rPr sz="1200" b="0">
                <a:solidFill>
                  <a:srgbClr val="5B6635"/>
                </a:solidFill>
                <a:latin typeface="Inter"/>
              </a:rPr>
              <a:t>EEG → V-JEPA, CLIP, DINOv2, audio…</a:t>
            </a:r>
          </a:p>
        </p:txBody>
      </p:sp>
      <p:sp>
        <p:nvSpPr>
          <p:cNvPr id="17" name="TextBox 16"/>
          <p:cNvSpPr txBox="1"/>
          <p:nvPr/>
        </p:nvSpPr>
        <p:spPr>
          <a:xfrm>
            <a:off x="594360" y="4114800"/>
            <a:ext cx="548640" cy="365760"/>
          </a:xfrm>
          <a:prstGeom prst="rect">
            <a:avLst/>
          </a:prstGeom>
          <a:noFill/>
        </p:spPr>
        <p:txBody>
          <a:bodyPr wrap="square" lIns="25400" tIns="25400" rIns="25400" bIns="25400" anchor="t">
            <a:spAutoFit/>
          </a:bodyPr>
          <a:lstStyle/>
          <a:p>
            <a:pPr algn="l">
              <a:lnSpc>
                <a:spcPct val="100000"/>
              </a:lnSpc>
              <a:spcAft>
                <a:spcPts val="400"/>
              </a:spcAft>
            </a:pPr>
            <a:r>
              <a:rPr sz="1300" b="0">
                <a:solidFill>
                  <a:srgbClr val="5B6635"/>
                </a:solidFill>
                <a:latin typeface="Inter"/>
              </a:rPr>
              <a:t>04</a:t>
            </a:r>
          </a:p>
        </p:txBody>
      </p:sp>
      <p:sp>
        <p:nvSpPr>
          <p:cNvPr id="18" name="TextBox 17"/>
          <p:cNvSpPr txBox="1"/>
          <p:nvPr/>
        </p:nvSpPr>
        <p:spPr>
          <a:xfrm>
            <a:off x="1143000" y="4041648"/>
            <a:ext cx="4846320" cy="365760"/>
          </a:xfrm>
          <a:prstGeom prst="rect">
            <a:avLst/>
          </a:prstGeom>
          <a:noFill/>
        </p:spPr>
        <p:txBody>
          <a:bodyPr wrap="square" lIns="25400" tIns="25400" rIns="25400" bIns="25400" anchor="t">
            <a:spAutoFit/>
          </a:bodyPr>
          <a:lstStyle/>
          <a:p>
            <a:pPr algn="l">
              <a:lnSpc>
                <a:spcPct val="100000"/>
              </a:lnSpc>
              <a:spcAft>
                <a:spcPts val="400"/>
              </a:spcAft>
            </a:pPr>
            <a:r>
              <a:rPr sz="1800" b="0">
                <a:solidFill>
                  <a:srgbClr val="2D331A"/>
                </a:solidFill>
                <a:latin typeface="Inter"/>
              </a:rPr>
              <a:t>Fuse</a:t>
            </a:r>
          </a:p>
        </p:txBody>
      </p:sp>
      <p:sp>
        <p:nvSpPr>
          <p:cNvPr id="19" name="TextBox 18"/>
          <p:cNvSpPr txBox="1"/>
          <p:nvPr/>
        </p:nvSpPr>
        <p:spPr>
          <a:xfrm>
            <a:off x="1143000" y="4379976"/>
            <a:ext cx="4846320" cy="320040"/>
          </a:xfrm>
          <a:prstGeom prst="rect">
            <a:avLst/>
          </a:prstGeom>
          <a:noFill/>
        </p:spPr>
        <p:txBody>
          <a:bodyPr wrap="square" lIns="25400" tIns="25400" rIns="25400" bIns="25400" anchor="t">
            <a:spAutoFit/>
          </a:bodyPr>
          <a:lstStyle/>
          <a:p>
            <a:pPr algn="l">
              <a:lnSpc>
                <a:spcPct val="100000"/>
              </a:lnSpc>
              <a:spcAft>
                <a:spcPts val="400"/>
              </a:spcAft>
            </a:pPr>
            <a:r>
              <a:rPr sz="1200" b="0">
                <a:solidFill>
                  <a:srgbClr val="5B6635"/>
                </a:solidFill>
                <a:latin typeface="Inter"/>
              </a:rPr>
              <a:t>rank fusion of ~650 scorers</a:t>
            </a:r>
          </a:p>
        </p:txBody>
      </p:sp>
      <p:sp>
        <p:nvSpPr>
          <p:cNvPr id="20" name="TextBox 19"/>
          <p:cNvSpPr txBox="1"/>
          <p:nvPr/>
        </p:nvSpPr>
        <p:spPr>
          <a:xfrm>
            <a:off x="594360" y="4864608"/>
            <a:ext cx="548640" cy="365760"/>
          </a:xfrm>
          <a:prstGeom prst="rect">
            <a:avLst/>
          </a:prstGeom>
          <a:noFill/>
        </p:spPr>
        <p:txBody>
          <a:bodyPr wrap="square" lIns="25400" tIns="25400" rIns="25400" bIns="25400" anchor="t">
            <a:spAutoFit/>
          </a:bodyPr>
          <a:lstStyle/>
          <a:p>
            <a:pPr algn="l">
              <a:lnSpc>
                <a:spcPct val="100000"/>
              </a:lnSpc>
              <a:spcAft>
                <a:spcPts val="400"/>
              </a:spcAft>
            </a:pPr>
            <a:r>
              <a:rPr sz="1300" b="0">
                <a:solidFill>
                  <a:srgbClr val="5B6635"/>
                </a:solidFill>
                <a:latin typeface="Inter"/>
              </a:rPr>
              <a:t>05</a:t>
            </a:r>
          </a:p>
        </p:txBody>
      </p:sp>
      <p:sp>
        <p:nvSpPr>
          <p:cNvPr id="21" name="TextBox 20"/>
          <p:cNvSpPr txBox="1"/>
          <p:nvPr/>
        </p:nvSpPr>
        <p:spPr>
          <a:xfrm>
            <a:off x="1143000" y="4791456"/>
            <a:ext cx="4846320" cy="365760"/>
          </a:xfrm>
          <a:prstGeom prst="rect">
            <a:avLst/>
          </a:prstGeom>
          <a:noFill/>
        </p:spPr>
        <p:txBody>
          <a:bodyPr wrap="square" lIns="25400" tIns="25400" rIns="25400" bIns="25400" anchor="t">
            <a:spAutoFit/>
          </a:bodyPr>
          <a:lstStyle/>
          <a:p>
            <a:pPr algn="l">
              <a:lnSpc>
                <a:spcPct val="100000"/>
              </a:lnSpc>
              <a:spcAft>
                <a:spcPts val="400"/>
              </a:spcAft>
            </a:pPr>
            <a:r>
              <a:rPr sz="1800" b="0">
                <a:solidFill>
                  <a:srgbClr val="2D331A"/>
                </a:solidFill>
                <a:latin typeface="Inter"/>
              </a:rPr>
              <a:t>Balance</a:t>
            </a:r>
          </a:p>
        </p:txBody>
      </p:sp>
      <p:sp>
        <p:nvSpPr>
          <p:cNvPr id="22" name="TextBox 21"/>
          <p:cNvSpPr txBox="1"/>
          <p:nvPr/>
        </p:nvSpPr>
        <p:spPr>
          <a:xfrm>
            <a:off x="1143000" y="5129784"/>
            <a:ext cx="4846320" cy="320040"/>
          </a:xfrm>
          <a:prstGeom prst="rect">
            <a:avLst/>
          </a:prstGeom>
          <a:noFill/>
        </p:spPr>
        <p:txBody>
          <a:bodyPr wrap="square" lIns="25400" tIns="25400" rIns="25400" bIns="25400" anchor="t">
            <a:spAutoFit/>
          </a:bodyPr>
          <a:lstStyle/>
          <a:p>
            <a:pPr algn="l">
              <a:lnSpc>
                <a:spcPct val="100000"/>
              </a:lnSpc>
              <a:spcAft>
                <a:spcPts val="400"/>
              </a:spcAft>
            </a:pPr>
            <a:r>
              <a:rPr sz="1200" b="0">
                <a:solidFill>
                  <a:srgbClr val="5B6635"/>
                </a:solidFill>
                <a:latin typeface="Inter"/>
              </a:rPr>
              <a:t>CSLS hub removal + Sinkhorn</a:t>
            </a:r>
          </a:p>
        </p:txBody>
      </p:sp>
      <p:sp>
        <p:nvSpPr>
          <p:cNvPr id="23" name="TextBox 22"/>
          <p:cNvSpPr txBox="1"/>
          <p:nvPr/>
        </p:nvSpPr>
        <p:spPr>
          <a:xfrm>
            <a:off x="6492240" y="1828800"/>
            <a:ext cx="2651760" cy="411480"/>
          </a:xfrm>
          <a:prstGeom prst="rect">
            <a:avLst/>
          </a:prstGeom>
          <a:noFill/>
        </p:spPr>
        <p:txBody>
          <a:bodyPr wrap="square" lIns="25400" tIns="25400" rIns="25400" bIns="25400" anchor="t">
            <a:spAutoFit/>
          </a:bodyPr>
          <a:lstStyle/>
          <a:p>
            <a:pPr algn="l">
              <a:lnSpc>
                <a:spcPct val="100000"/>
              </a:lnSpc>
              <a:spcAft>
                <a:spcPts val="400"/>
              </a:spcAft>
            </a:pPr>
            <a:r>
              <a:rPr sz="1500" b="0">
                <a:solidFill>
                  <a:srgbClr val="2D331A"/>
                </a:solidFill>
                <a:latin typeface="Inter"/>
              </a:rPr>
              <a:t>EEG Moments data</a:t>
            </a:r>
          </a:p>
        </p:txBody>
      </p:sp>
      <p:sp>
        <p:nvSpPr>
          <p:cNvPr id="24" name="TextBox 23"/>
          <p:cNvSpPr txBox="1"/>
          <p:nvPr/>
        </p:nvSpPr>
        <p:spPr>
          <a:xfrm>
            <a:off x="6492240" y="2286000"/>
            <a:ext cx="2651760" cy="1463040"/>
          </a:xfrm>
          <a:prstGeom prst="rect">
            <a:avLst/>
          </a:prstGeom>
          <a:noFill/>
        </p:spPr>
        <p:txBody>
          <a:bodyPr wrap="square" lIns="25400" tIns="25400" rIns="25400" bIns="25400" anchor="t">
            <a:spAutoFit/>
          </a:bodyPr>
          <a:lstStyle/>
          <a:p>
            <a:pPr algn="l">
              <a:lnSpc>
                <a:spcPct val="112000"/>
              </a:lnSpc>
              <a:spcAft>
                <a:spcPts val="400"/>
              </a:spcAft>
            </a:pPr>
            <a:r>
              <a:rPr sz="1100" b="0">
                <a:solidFill>
                  <a:srgbClr val="5B6635"/>
                </a:solidFill>
                <a:latin typeface="Inter"/>
              </a:rPr>
              <a:t>6 people, 17 channels over the back of the head, ~1,000 training clips each, 102 test clips.</a:t>
            </a:r>
          </a:p>
        </p:txBody>
      </p:sp>
      <p:sp>
        <p:nvSpPr>
          <p:cNvPr id="25" name="TextBox 24"/>
          <p:cNvSpPr txBox="1"/>
          <p:nvPr/>
        </p:nvSpPr>
        <p:spPr>
          <a:xfrm>
            <a:off x="9326880" y="1828800"/>
            <a:ext cx="2651760" cy="411480"/>
          </a:xfrm>
          <a:prstGeom prst="rect">
            <a:avLst/>
          </a:prstGeom>
          <a:noFill/>
        </p:spPr>
        <p:txBody>
          <a:bodyPr wrap="square" lIns="25400" tIns="25400" rIns="25400" bIns="25400" anchor="t">
            <a:spAutoFit/>
          </a:bodyPr>
          <a:lstStyle/>
          <a:p>
            <a:pPr algn="l">
              <a:lnSpc>
                <a:spcPct val="100000"/>
              </a:lnSpc>
              <a:spcAft>
                <a:spcPts val="400"/>
              </a:spcAft>
            </a:pPr>
            <a:r>
              <a:rPr sz="1500" b="0">
                <a:solidFill>
                  <a:srgbClr val="2D331A"/>
                </a:solidFill>
                <a:latin typeface="Inter"/>
              </a:rPr>
              <a:t>~650 brain-to-video scorers</a:t>
            </a:r>
          </a:p>
        </p:txBody>
      </p:sp>
      <p:sp>
        <p:nvSpPr>
          <p:cNvPr id="26" name="TextBox 25"/>
          <p:cNvSpPr txBox="1"/>
          <p:nvPr/>
        </p:nvSpPr>
        <p:spPr>
          <a:xfrm>
            <a:off x="9326880" y="2286000"/>
            <a:ext cx="2651760" cy="1463040"/>
          </a:xfrm>
          <a:prstGeom prst="rect">
            <a:avLst/>
          </a:prstGeom>
          <a:noFill/>
        </p:spPr>
        <p:txBody>
          <a:bodyPr wrap="square" lIns="25400" tIns="25400" rIns="25400" bIns="25400" anchor="t">
            <a:spAutoFit/>
          </a:bodyPr>
          <a:lstStyle/>
          <a:p>
            <a:pPr algn="l">
              <a:lnSpc>
                <a:spcPct val="112000"/>
              </a:lnSpc>
              <a:spcAft>
                <a:spcPts val="400"/>
              </a:spcAft>
            </a:pPr>
            <a:r>
              <a:rPr sz="1100" b="0">
                <a:solidFill>
                  <a:srgbClr val="5B6635"/>
                </a:solidFill>
                <a:latin typeface="Inter"/>
              </a:rPr>
              <a:t>Ridge decoders over latency windows × deep video features, plus a contrastive net across people.</a:t>
            </a:r>
          </a:p>
        </p:txBody>
      </p:sp>
      <p:sp>
        <p:nvSpPr>
          <p:cNvPr id="27" name="TextBox 26"/>
          <p:cNvSpPr txBox="1"/>
          <p:nvPr/>
        </p:nvSpPr>
        <p:spPr>
          <a:xfrm>
            <a:off x="6492240" y="3977639"/>
            <a:ext cx="2651760" cy="411480"/>
          </a:xfrm>
          <a:prstGeom prst="rect">
            <a:avLst/>
          </a:prstGeom>
          <a:noFill/>
        </p:spPr>
        <p:txBody>
          <a:bodyPr wrap="square" lIns="25400" tIns="25400" rIns="25400" bIns="25400" anchor="t">
            <a:spAutoFit/>
          </a:bodyPr>
          <a:lstStyle/>
          <a:p>
            <a:pPr algn="l">
              <a:lnSpc>
                <a:spcPct val="100000"/>
              </a:lnSpc>
              <a:spcAft>
                <a:spcPts val="400"/>
              </a:spcAft>
            </a:pPr>
            <a:r>
              <a:rPr sz="1500" b="0">
                <a:solidFill>
                  <a:srgbClr val="2D331A"/>
                </a:solidFill>
                <a:latin typeface="Inter"/>
              </a:rPr>
              <a:t>Cognitive grounding</a:t>
            </a:r>
          </a:p>
        </p:txBody>
      </p:sp>
      <p:sp>
        <p:nvSpPr>
          <p:cNvPr id="28" name="TextBox 27"/>
          <p:cNvSpPr txBox="1"/>
          <p:nvPr/>
        </p:nvSpPr>
        <p:spPr>
          <a:xfrm>
            <a:off x="6492240" y="4434840"/>
            <a:ext cx="2651760" cy="1463040"/>
          </a:xfrm>
          <a:prstGeom prst="rect">
            <a:avLst/>
          </a:prstGeom>
          <a:noFill/>
        </p:spPr>
        <p:txBody>
          <a:bodyPr wrap="square" lIns="25400" tIns="25400" rIns="25400" bIns="25400" anchor="t">
            <a:spAutoFit/>
          </a:bodyPr>
          <a:lstStyle/>
          <a:p>
            <a:pPr algn="l">
              <a:lnSpc>
                <a:spcPct val="112000"/>
              </a:lnSpc>
              <a:spcAft>
                <a:spcPts val="400"/>
              </a:spcAft>
            </a:pPr>
            <a:r>
              <a:rPr sz="1100" b="0">
                <a:solidFill>
                  <a:srgbClr val="5B6635"/>
                </a:solidFill>
                <a:latin typeface="Inter"/>
              </a:rPr>
              <a:t>The decodable signal sits in the first 800 ms — the classic visual ERP window.</a:t>
            </a:r>
          </a:p>
        </p:txBody>
      </p:sp>
      <p:sp>
        <p:nvSpPr>
          <p:cNvPr id="29" name="TextBox 28"/>
          <p:cNvSpPr txBox="1"/>
          <p:nvPr/>
        </p:nvSpPr>
        <p:spPr>
          <a:xfrm>
            <a:off x="9326880" y="3977639"/>
            <a:ext cx="2651760" cy="411480"/>
          </a:xfrm>
          <a:prstGeom prst="rect">
            <a:avLst/>
          </a:prstGeom>
          <a:noFill/>
        </p:spPr>
        <p:txBody>
          <a:bodyPr wrap="square" lIns="25400" tIns="25400" rIns="25400" bIns="25400" anchor="t">
            <a:spAutoFit/>
          </a:bodyPr>
          <a:lstStyle/>
          <a:p>
            <a:pPr algn="l">
              <a:lnSpc>
                <a:spcPct val="100000"/>
              </a:lnSpc>
              <a:spcAft>
                <a:spcPts val="400"/>
              </a:spcAft>
            </a:pPr>
            <a:r>
              <a:rPr sz="1500" b="0">
                <a:solidFill>
                  <a:srgbClr val="2D331A"/>
                </a:solidFill>
                <a:latin typeface="Inter"/>
              </a:rPr>
              <a:t>Validated on held-out data</a:t>
            </a:r>
          </a:p>
        </p:txBody>
      </p:sp>
      <p:sp>
        <p:nvSpPr>
          <p:cNvPr id="30" name="TextBox 29"/>
          <p:cNvSpPr txBox="1"/>
          <p:nvPr/>
        </p:nvSpPr>
        <p:spPr>
          <a:xfrm>
            <a:off x="9326880" y="4434840"/>
            <a:ext cx="2651760" cy="1463040"/>
          </a:xfrm>
          <a:prstGeom prst="rect">
            <a:avLst/>
          </a:prstGeom>
          <a:noFill/>
        </p:spPr>
        <p:txBody>
          <a:bodyPr wrap="square" lIns="25400" tIns="25400" rIns="25400" bIns="25400" anchor="t">
            <a:spAutoFit/>
          </a:bodyPr>
          <a:lstStyle/>
          <a:p>
            <a:pPr algn="l">
              <a:lnSpc>
                <a:spcPct val="112000"/>
              </a:lnSpc>
              <a:spcAft>
                <a:spcPts val="400"/>
              </a:spcAft>
            </a:pPr>
            <a:r>
              <a:rPr sz="1100" b="0">
                <a:solidFill>
                  <a:srgbClr val="5B6635"/>
                </a:solidFill>
                <a:latin typeface="Inter"/>
              </a:rPr>
              <a:t>Every weight is chosen on held-out training videos; the test set only measures the result.</a:t>
            </a:r>
          </a:p>
        </p:txBody>
      </p:sp>
      <p:sp>
        <p:nvSpPr>
          <p:cNvPr id="31" name="TextBox 30"/>
          <p:cNvSpPr txBox="1"/>
          <p:nvPr/>
        </p:nvSpPr>
        <p:spPr>
          <a:xfrm>
            <a:off x="548640" y="6428232"/>
            <a:ext cx="8229600" cy="320040"/>
          </a:xfrm>
          <a:prstGeom prst="rect">
            <a:avLst/>
          </a:prstGeom>
          <a:noFill/>
        </p:spPr>
        <p:txBody>
          <a:bodyPr wrap="square" lIns="25400" tIns="25400" rIns="25400" bIns="25400" anchor="t">
            <a:spAutoFit/>
          </a:bodyPr>
          <a:lstStyle/>
          <a:p>
            <a:pPr algn="l">
              <a:lnSpc>
                <a:spcPct val="100000"/>
              </a:lnSpc>
              <a:spcAft>
                <a:spcPts val="400"/>
              </a:spcAft>
            </a:pPr>
            <a:r>
              <a:rPr sz="850" b="1">
                <a:solidFill>
                  <a:srgbClr val="5B6635"/>
                </a:solidFill>
                <a:latin typeface="Inter"/>
              </a:rPr>
              <a:t>NEUROBYTES · EEG-TO-VIDEO RETRIEVAL</a:t>
            </a:r>
          </a:p>
        </p:txBody>
      </p:sp>
      <p:sp>
        <p:nvSpPr>
          <p:cNvPr id="32" name="TextBox 31"/>
          <p:cNvSpPr txBox="1"/>
          <p:nvPr/>
        </p:nvSpPr>
        <p:spPr>
          <a:xfrm>
            <a:off x="10881360" y="6428232"/>
            <a:ext cx="822960" cy="320040"/>
          </a:xfrm>
          <a:prstGeom prst="rect">
            <a:avLst/>
          </a:prstGeom>
          <a:noFill/>
        </p:spPr>
        <p:txBody>
          <a:bodyPr wrap="square" lIns="25400" tIns="25400" rIns="25400" bIns="25400" anchor="t">
            <a:spAutoFit/>
          </a:bodyPr>
          <a:lstStyle/>
          <a:p>
            <a:pPr algn="r">
              <a:lnSpc>
                <a:spcPct val="100000"/>
              </a:lnSpc>
              <a:spcAft>
                <a:spcPts val="400"/>
              </a:spcAft>
            </a:pPr>
            <a:r>
              <a:rPr sz="900" b="1">
                <a:solidFill>
                  <a:srgbClr val="5B6635"/>
                </a:solidFill>
                <a:latin typeface="Inter"/>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EF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503920" y="-1280160"/>
            <a:ext cx="5029200" cy="3657600"/>
          </a:xfrm>
          <a:prstGeom prst="roundRect">
            <a:avLst>
              <a:gd name="adj" fmla="val 50000"/>
            </a:avLst>
          </a:prstGeom>
          <a:solidFill>
            <a:srgbClr val="F3EB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463040" y="1463040"/>
            <a:ext cx="4206240" cy="3291840"/>
          </a:xfrm>
          <a:prstGeom prst="roundRect">
            <a:avLst>
              <a:gd name="adj" fmla="val 50000"/>
            </a:avLst>
          </a:prstGeom>
          <a:solidFill>
            <a:srgbClr val="EEE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603504"/>
            <a:ext cx="384048" cy="25603"/>
          </a:xfrm>
          <a:prstGeom prst="rect">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502920"/>
            <a:ext cx="7315200" cy="320040"/>
          </a:xfrm>
          <a:prstGeom prst="rect">
            <a:avLst/>
          </a:prstGeom>
          <a:noFill/>
        </p:spPr>
        <p:txBody>
          <a:bodyPr wrap="square" lIns="25400" tIns="25400" rIns="25400" bIns="25400" anchor="t">
            <a:spAutoFit/>
          </a:bodyPr>
          <a:lstStyle/>
          <a:p>
            <a:pPr algn="l">
              <a:lnSpc>
                <a:spcPct val="100000"/>
              </a:lnSpc>
              <a:spcAft>
                <a:spcPts val="400"/>
              </a:spcAft>
            </a:pPr>
            <a:r>
              <a:rPr sz="1150" b="1">
                <a:solidFill>
                  <a:srgbClr val="5B6635"/>
                </a:solidFill>
                <a:latin typeface="Inter"/>
              </a:rPr>
              <a:t>RESULTS</a:t>
            </a:r>
          </a:p>
        </p:txBody>
      </p:sp>
      <p:sp>
        <p:nvSpPr>
          <p:cNvPr id="7" name="TextBox 6"/>
          <p:cNvSpPr txBox="1"/>
          <p:nvPr/>
        </p:nvSpPr>
        <p:spPr>
          <a:xfrm>
            <a:off x="548640" y="841248"/>
            <a:ext cx="11064240" cy="731520"/>
          </a:xfrm>
          <a:prstGeom prst="rect">
            <a:avLst/>
          </a:prstGeom>
          <a:noFill/>
        </p:spPr>
        <p:txBody>
          <a:bodyPr wrap="square" lIns="25400" tIns="25400" rIns="25400" bIns="25400" anchor="t">
            <a:spAutoFit/>
          </a:bodyPr>
          <a:lstStyle/>
          <a:p>
            <a:pPr algn="l">
              <a:lnSpc>
                <a:spcPct val="95000"/>
              </a:lnSpc>
              <a:spcAft>
                <a:spcPts val="0"/>
              </a:spcAft>
            </a:pPr>
            <a:r>
              <a:rPr sz="3000" b="0">
                <a:solidFill>
                  <a:srgbClr val="2D331A"/>
                </a:solidFill>
                <a:latin typeface="Inter"/>
              </a:rPr>
              <a:t>From 11% to </a:t>
            </a:r>
            <a:r>
              <a:rPr sz="3000" b="0">
                <a:solidFill>
                  <a:srgbClr val="5B6635"/>
                </a:solidFill>
                <a:latin typeface="Inter"/>
              </a:rPr>
              <a:t>36% top-1</a:t>
            </a:r>
          </a:p>
        </p:txBody>
      </p:sp>
      <p:sp>
        <p:nvSpPr>
          <p:cNvPr id="8" name="TextBox 7"/>
          <p:cNvSpPr txBox="1"/>
          <p:nvPr/>
        </p:nvSpPr>
        <p:spPr>
          <a:xfrm>
            <a:off x="548640" y="1481328"/>
            <a:ext cx="10972800" cy="457200"/>
          </a:xfrm>
          <a:prstGeom prst="rect">
            <a:avLst/>
          </a:prstGeom>
          <a:noFill/>
        </p:spPr>
        <p:txBody>
          <a:bodyPr wrap="square" lIns="25400" tIns="25400" rIns="25400" bIns="25400" anchor="t">
            <a:spAutoFit/>
          </a:bodyPr>
          <a:lstStyle/>
          <a:p>
            <a:pPr algn="l">
              <a:lnSpc>
                <a:spcPct val="100000"/>
              </a:lnSpc>
              <a:spcAft>
                <a:spcPts val="400"/>
              </a:spcAft>
            </a:pPr>
            <a:r>
              <a:rPr sz="1250" b="0">
                <a:solidFill>
                  <a:srgbClr val="5B6635"/>
                </a:solidFill>
                <a:latin typeface="Inter"/>
              </a:rPr>
              <a:t>Official dev test, sub-01..04 (408 recordings, 102 candidates each).</a:t>
            </a:r>
          </a:p>
        </p:txBody>
      </p:sp>
      <p:sp>
        <p:nvSpPr>
          <p:cNvPr id="9" name="Rounded Rectangle 8"/>
          <p:cNvSpPr/>
          <p:nvPr/>
        </p:nvSpPr>
        <p:spPr>
          <a:xfrm>
            <a:off x="548640" y="2057400"/>
            <a:ext cx="11064240" cy="4114800"/>
          </a:xfrm>
          <a:prstGeom prst="roundRect">
            <a:avLst>
              <a:gd name="adj" fmla="val 8000"/>
            </a:avLst>
          </a:prstGeom>
          <a:solidFill>
            <a:srgbClr val="FFFDF3"/>
          </a:solidFill>
          <a:ln w="12700">
            <a:solidFill>
              <a:srgbClr val="CCD5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59" y="2240280"/>
            <a:ext cx="7315200" cy="365760"/>
          </a:xfrm>
          <a:prstGeom prst="rect">
            <a:avLst/>
          </a:prstGeom>
          <a:noFill/>
        </p:spPr>
        <p:txBody>
          <a:bodyPr wrap="square" lIns="25400" tIns="25400" rIns="25400" bIns="25400" anchor="t">
            <a:spAutoFit/>
          </a:bodyPr>
          <a:lstStyle/>
          <a:p>
            <a:pPr algn="l">
              <a:lnSpc>
                <a:spcPct val="100000"/>
              </a:lnSpc>
              <a:spcAft>
                <a:spcPts val="400"/>
              </a:spcAft>
            </a:pPr>
            <a:r>
              <a:rPr sz="1100" b="1">
                <a:solidFill>
                  <a:srgbClr val="5B6635"/>
                </a:solidFill>
                <a:latin typeface="Inter"/>
              </a:rPr>
              <a:t>FROM BASELINE TO FINAL SYSTEM</a:t>
            </a:r>
          </a:p>
        </p:txBody>
      </p:sp>
      <p:sp>
        <p:nvSpPr>
          <p:cNvPr id="11" name="Rectangle 10"/>
          <p:cNvSpPr/>
          <p:nvPr/>
        </p:nvSpPr>
        <p:spPr>
          <a:xfrm>
            <a:off x="8686800" y="2295144"/>
            <a:ext cx="164592" cy="164592"/>
          </a:xfrm>
          <a:prstGeom prst="rect">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15400" y="2212848"/>
            <a:ext cx="914400" cy="320040"/>
          </a:xfrm>
          <a:prstGeom prst="rect">
            <a:avLst/>
          </a:prstGeom>
          <a:noFill/>
        </p:spPr>
        <p:txBody>
          <a:bodyPr wrap="square" lIns="25400" tIns="25400" rIns="25400" bIns="25400" anchor="t">
            <a:spAutoFit/>
          </a:bodyPr>
          <a:lstStyle/>
          <a:p>
            <a:pPr algn="l">
              <a:lnSpc>
                <a:spcPct val="100000"/>
              </a:lnSpc>
              <a:spcAft>
                <a:spcPts val="400"/>
              </a:spcAft>
            </a:pPr>
            <a:r>
              <a:rPr sz="1100" b="0">
                <a:solidFill>
                  <a:srgbClr val="5B6635"/>
                </a:solidFill>
                <a:latin typeface="Inter"/>
              </a:rPr>
              <a:t>top-5</a:t>
            </a:r>
          </a:p>
        </p:txBody>
      </p:sp>
      <p:sp>
        <p:nvSpPr>
          <p:cNvPr id="13" name="Rectangle 12"/>
          <p:cNvSpPr/>
          <p:nvPr/>
        </p:nvSpPr>
        <p:spPr>
          <a:xfrm>
            <a:off x="9692640" y="2295144"/>
            <a:ext cx="164592" cy="164592"/>
          </a:xfrm>
          <a:prstGeom prst="rect">
            <a:avLst/>
          </a:prstGeom>
          <a:solidFill>
            <a:srgbClr val="889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921240" y="2212848"/>
            <a:ext cx="914400" cy="320040"/>
          </a:xfrm>
          <a:prstGeom prst="rect">
            <a:avLst/>
          </a:prstGeom>
          <a:noFill/>
        </p:spPr>
        <p:txBody>
          <a:bodyPr wrap="square" lIns="25400" tIns="25400" rIns="25400" bIns="25400" anchor="t">
            <a:spAutoFit/>
          </a:bodyPr>
          <a:lstStyle/>
          <a:p>
            <a:pPr algn="l">
              <a:lnSpc>
                <a:spcPct val="100000"/>
              </a:lnSpc>
              <a:spcAft>
                <a:spcPts val="400"/>
              </a:spcAft>
            </a:pPr>
            <a:r>
              <a:rPr sz="1100" b="0">
                <a:solidFill>
                  <a:srgbClr val="5B6635"/>
                </a:solidFill>
                <a:latin typeface="Inter"/>
              </a:rPr>
              <a:t>top-1</a:t>
            </a:r>
          </a:p>
        </p:txBody>
      </p:sp>
      <p:sp>
        <p:nvSpPr>
          <p:cNvPr id="15" name="Rectangle 14"/>
          <p:cNvSpPr/>
          <p:nvPr/>
        </p:nvSpPr>
        <p:spPr>
          <a:xfrm>
            <a:off x="1188719" y="5486400"/>
            <a:ext cx="10058400" cy="10972"/>
          </a:xfrm>
          <a:prstGeom prst="rect">
            <a:avLst/>
          </a:prstGeom>
          <a:solidFill>
            <a:srgbClr val="CCD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5358384"/>
            <a:ext cx="502920" cy="274320"/>
          </a:xfrm>
          <a:prstGeom prst="rect">
            <a:avLst/>
          </a:prstGeom>
          <a:noFill/>
        </p:spPr>
        <p:txBody>
          <a:bodyPr wrap="square" lIns="25400" tIns="25400" rIns="25400" bIns="25400" anchor="t">
            <a:spAutoFit/>
          </a:bodyPr>
          <a:lstStyle/>
          <a:p>
            <a:pPr algn="r">
              <a:lnSpc>
                <a:spcPct val="100000"/>
              </a:lnSpc>
              <a:spcAft>
                <a:spcPts val="400"/>
              </a:spcAft>
            </a:pPr>
            <a:r>
              <a:rPr sz="900" b="0">
                <a:solidFill>
                  <a:srgbClr val="5B6635"/>
                </a:solidFill>
                <a:latin typeface="Inter"/>
              </a:rPr>
              <a:t>0%</a:t>
            </a:r>
          </a:p>
        </p:txBody>
      </p:sp>
      <p:sp>
        <p:nvSpPr>
          <p:cNvPr id="17" name="Rectangle 16"/>
          <p:cNvSpPr/>
          <p:nvPr/>
        </p:nvSpPr>
        <p:spPr>
          <a:xfrm>
            <a:off x="1188719" y="4800600"/>
            <a:ext cx="10058400" cy="10972"/>
          </a:xfrm>
          <a:prstGeom prst="rect">
            <a:avLst/>
          </a:prstGeom>
          <a:solidFill>
            <a:srgbClr val="CCD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4672584"/>
            <a:ext cx="502920" cy="274320"/>
          </a:xfrm>
          <a:prstGeom prst="rect">
            <a:avLst/>
          </a:prstGeom>
          <a:noFill/>
        </p:spPr>
        <p:txBody>
          <a:bodyPr wrap="square" lIns="25400" tIns="25400" rIns="25400" bIns="25400" anchor="t">
            <a:spAutoFit/>
          </a:bodyPr>
          <a:lstStyle/>
          <a:p>
            <a:pPr algn="r">
              <a:lnSpc>
                <a:spcPct val="100000"/>
              </a:lnSpc>
              <a:spcAft>
                <a:spcPts val="400"/>
              </a:spcAft>
            </a:pPr>
            <a:r>
              <a:rPr sz="900" b="0">
                <a:solidFill>
                  <a:srgbClr val="5B6635"/>
                </a:solidFill>
                <a:latin typeface="Inter"/>
              </a:rPr>
              <a:t>20%</a:t>
            </a:r>
          </a:p>
        </p:txBody>
      </p:sp>
      <p:sp>
        <p:nvSpPr>
          <p:cNvPr id="19" name="Rectangle 18"/>
          <p:cNvSpPr/>
          <p:nvPr/>
        </p:nvSpPr>
        <p:spPr>
          <a:xfrm>
            <a:off x="1188719" y="4114800"/>
            <a:ext cx="10058400" cy="10972"/>
          </a:xfrm>
          <a:prstGeom prst="rect">
            <a:avLst/>
          </a:prstGeom>
          <a:solidFill>
            <a:srgbClr val="CCD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3986784"/>
            <a:ext cx="502920" cy="274320"/>
          </a:xfrm>
          <a:prstGeom prst="rect">
            <a:avLst/>
          </a:prstGeom>
          <a:noFill/>
        </p:spPr>
        <p:txBody>
          <a:bodyPr wrap="square" lIns="25400" tIns="25400" rIns="25400" bIns="25400" anchor="t">
            <a:spAutoFit/>
          </a:bodyPr>
          <a:lstStyle/>
          <a:p>
            <a:pPr algn="r">
              <a:lnSpc>
                <a:spcPct val="100000"/>
              </a:lnSpc>
              <a:spcAft>
                <a:spcPts val="400"/>
              </a:spcAft>
            </a:pPr>
            <a:r>
              <a:rPr sz="900" b="0">
                <a:solidFill>
                  <a:srgbClr val="5B6635"/>
                </a:solidFill>
                <a:latin typeface="Inter"/>
              </a:rPr>
              <a:t>40%</a:t>
            </a:r>
          </a:p>
        </p:txBody>
      </p:sp>
      <p:sp>
        <p:nvSpPr>
          <p:cNvPr id="21" name="Rectangle 20"/>
          <p:cNvSpPr/>
          <p:nvPr/>
        </p:nvSpPr>
        <p:spPr>
          <a:xfrm>
            <a:off x="1188719" y="3429000"/>
            <a:ext cx="10058400" cy="10972"/>
          </a:xfrm>
          <a:prstGeom prst="rect">
            <a:avLst/>
          </a:prstGeom>
          <a:solidFill>
            <a:srgbClr val="CCD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 y="3300984"/>
            <a:ext cx="502920" cy="274320"/>
          </a:xfrm>
          <a:prstGeom prst="rect">
            <a:avLst/>
          </a:prstGeom>
          <a:noFill/>
        </p:spPr>
        <p:txBody>
          <a:bodyPr wrap="square" lIns="25400" tIns="25400" rIns="25400" bIns="25400" anchor="t">
            <a:spAutoFit/>
          </a:bodyPr>
          <a:lstStyle/>
          <a:p>
            <a:pPr algn="r">
              <a:lnSpc>
                <a:spcPct val="100000"/>
              </a:lnSpc>
              <a:spcAft>
                <a:spcPts val="400"/>
              </a:spcAft>
            </a:pPr>
            <a:r>
              <a:rPr sz="900" b="0">
                <a:solidFill>
                  <a:srgbClr val="5B6635"/>
                </a:solidFill>
                <a:latin typeface="Inter"/>
              </a:rPr>
              <a:t>60%</a:t>
            </a:r>
          </a:p>
        </p:txBody>
      </p:sp>
      <p:sp>
        <p:nvSpPr>
          <p:cNvPr id="23" name="Rectangle 22"/>
          <p:cNvSpPr/>
          <p:nvPr/>
        </p:nvSpPr>
        <p:spPr>
          <a:xfrm>
            <a:off x="1188719" y="2743200"/>
            <a:ext cx="10058400" cy="10972"/>
          </a:xfrm>
          <a:prstGeom prst="rect">
            <a:avLst/>
          </a:prstGeom>
          <a:solidFill>
            <a:srgbClr val="CCD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94360" y="2615184"/>
            <a:ext cx="502920" cy="274320"/>
          </a:xfrm>
          <a:prstGeom prst="rect">
            <a:avLst/>
          </a:prstGeom>
          <a:noFill/>
        </p:spPr>
        <p:txBody>
          <a:bodyPr wrap="square" lIns="25400" tIns="25400" rIns="25400" bIns="25400" anchor="t">
            <a:spAutoFit/>
          </a:bodyPr>
          <a:lstStyle/>
          <a:p>
            <a:pPr algn="r">
              <a:lnSpc>
                <a:spcPct val="100000"/>
              </a:lnSpc>
              <a:spcAft>
                <a:spcPts val="400"/>
              </a:spcAft>
            </a:pPr>
            <a:r>
              <a:rPr sz="900" b="0">
                <a:solidFill>
                  <a:srgbClr val="5B6635"/>
                </a:solidFill>
                <a:latin typeface="Inter"/>
              </a:rPr>
              <a:t>80%</a:t>
            </a:r>
          </a:p>
        </p:txBody>
      </p:sp>
      <p:sp>
        <p:nvSpPr>
          <p:cNvPr id="25" name="Rectangle 24"/>
          <p:cNvSpPr/>
          <p:nvPr/>
        </p:nvSpPr>
        <p:spPr>
          <a:xfrm>
            <a:off x="1289304" y="4467987"/>
            <a:ext cx="301752" cy="1018413"/>
          </a:xfrm>
          <a:prstGeom prst="rect">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627632" y="5109210"/>
            <a:ext cx="301752" cy="377190"/>
          </a:xfrm>
          <a:prstGeom prst="rect">
            <a:avLst/>
          </a:prstGeom>
          <a:solidFill>
            <a:srgbClr val="889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97863" y="4248531"/>
            <a:ext cx="484632" cy="201168"/>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2D331A"/>
                </a:solidFill>
                <a:latin typeface="Inter"/>
              </a:rPr>
              <a:t>30</a:t>
            </a:r>
          </a:p>
        </p:txBody>
      </p:sp>
      <p:sp>
        <p:nvSpPr>
          <p:cNvPr id="28" name="TextBox 27"/>
          <p:cNvSpPr txBox="1"/>
          <p:nvPr/>
        </p:nvSpPr>
        <p:spPr>
          <a:xfrm>
            <a:off x="1591056" y="4889754"/>
            <a:ext cx="484632" cy="201168"/>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2D331A"/>
                </a:solidFill>
                <a:latin typeface="Inter"/>
              </a:rPr>
              <a:t>11</a:t>
            </a:r>
          </a:p>
        </p:txBody>
      </p:sp>
      <p:sp>
        <p:nvSpPr>
          <p:cNvPr id="29" name="TextBox 28"/>
          <p:cNvSpPr txBox="1"/>
          <p:nvPr/>
        </p:nvSpPr>
        <p:spPr>
          <a:xfrm>
            <a:off x="1152144" y="5522976"/>
            <a:ext cx="877824" cy="228600"/>
          </a:xfrm>
          <a:prstGeom prst="rect">
            <a:avLst/>
          </a:prstGeom>
          <a:noFill/>
        </p:spPr>
        <p:txBody>
          <a:bodyPr wrap="square" lIns="25400" tIns="25400" rIns="25400" bIns="25400" anchor="t">
            <a:spAutoFit/>
          </a:bodyPr>
          <a:lstStyle/>
          <a:p>
            <a:pPr algn="ctr">
              <a:lnSpc>
                <a:spcPct val="100000"/>
              </a:lnSpc>
              <a:spcAft>
                <a:spcPts val="400"/>
              </a:spcAft>
            </a:pPr>
            <a:r>
              <a:rPr sz="1100" b="0">
                <a:solidFill>
                  <a:srgbClr val="2D331A"/>
                </a:solidFill>
                <a:latin typeface="Inter"/>
              </a:rPr>
              <a:t>J1</a:t>
            </a:r>
          </a:p>
        </p:txBody>
      </p:sp>
      <p:sp>
        <p:nvSpPr>
          <p:cNvPr id="30" name="TextBox 29"/>
          <p:cNvSpPr txBox="1"/>
          <p:nvPr/>
        </p:nvSpPr>
        <p:spPr>
          <a:xfrm>
            <a:off x="1060704" y="5742432"/>
            <a:ext cx="1060704" cy="228600"/>
          </a:xfrm>
          <a:prstGeom prst="rect">
            <a:avLst/>
          </a:prstGeom>
          <a:noFill/>
        </p:spPr>
        <p:txBody>
          <a:bodyPr wrap="square" lIns="25400" tIns="25400" rIns="25400" bIns="25400" anchor="t">
            <a:spAutoFit/>
          </a:bodyPr>
          <a:lstStyle/>
          <a:p>
            <a:pPr algn="ctr">
              <a:lnSpc>
                <a:spcPct val="100000"/>
              </a:lnSpc>
              <a:spcAft>
                <a:spcPts val="400"/>
              </a:spcAft>
            </a:pPr>
            <a:r>
              <a:rPr sz="750" b="0">
                <a:solidFill>
                  <a:srgbClr val="5B6635"/>
                </a:solidFill>
                <a:latin typeface="Inter"/>
              </a:rPr>
              <a:t>ridge baseline</a:t>
            </a:r>
          </a:p>
        </p:txBody>
      </p:sp>
      <p:sp>
        <p:nvSpPr>
          <p:cNvPr id="31" name="Rectangle 30"/>
          <p:cNvSpPr/>
          <p:nvPr/>
        </p:nvSpPr>
        <p:spPr>
          <a:xfrm>
            <a:off x="2295144" y="4269105"/>
            <a:ext cx="301752" cy="1217294"/>
          </a:xfrm>
          <a:prstGeom prst="rect">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633472" y="5092065"/>
            <a:ext cx="301752" cy="394334"/>
          </a:xfrm>
          <a:prstGeom prst="rect">
            <a:avLst/>
          </a:prstGeom>
          <a:solidFill>
            <a:srgbClr val="889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03703" y="4049649"/>
            <a:ext cx="484632" cy="201168"/>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2D331A"/>
                </a:solidFill>
                <a:latin typeface="Inter"/>
              </a:rPr>
              <a:t>36</a:t>
            </a:r>
          </a:p>
        </p:txBody>
      </p:sp>
      <p:sp>
        <p:nvSpPr>
          <p:cNvPr id="34" name="TextBox 33"/>
          <p:cNvSpPr txBox="1"/>
          <p:nvPr/>
        </p:nvSpPr>
        <p:spPr>
          <a:xfrm>
            <a:off x="2596896" y="4872608"/>
            <a:ext cx="484632" cy="201168"/>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2D331A"/>
                </a:solidFill>
                <a:latin typeface="Inter"/>
              </a:rPr>
              <a:t>12</a:t>
            </a:r>
          </a:p>
        </p:txBody>
      </p:sp>
      <p:sp>
        <p:nvSpPr>
          <p:cNvPr id="35" name="TextBox 34"/>
          <p:cNvSpPr txBox="1"/>
          <p:nvPr/>
        </p:nvSpPr>
        <p:spPr>
          <a:xfrm>
            <a:off x="2157984" y="5522976"/>
            <a:ext cx="877824" cy="228600"/>
          </a:xfrm>
          <a:prstGeom prst="rect">
            <a:avLst/>
          </a:prstGeom>
          <a:noFill/>
        </p:spPr>
        <p:txBody>
          <a:bodyPr wrap="square" lIns="25400" tIns="25400" rIns="25400" bIns="25400" anchor="t">
            <a:spAutoFit/>
          </a:bodyPr>
          <a:lstStyle/>
          <a:p>
            <a:pPr algn="ctr">
              <a:lnSpc>
                <a:spcPct val="100000"/>
              </a:lnSpc>
              <a:spcAft>
                <a:spcPts val="400"/>
              </a:spcAft>
            </a:pPr>
            <a:r>
              <a:rPr sz="1100" b="0">
                <a:solidFill>
                  <a:srgbClr val="2D331A"/>
                </a:solidFill>
                <a:latin typeface="Inter"/>
              </a:rPr>
              <a:t>T1</a:t>
            </a:r>
          </a:p>
        </p:txBody>
      </p:sp>
      <p:sp>
        <p:nvSpPr>
          <p:cNvPr id="36" name="TextBox 35"/>
          <p:cNvSpPr txBox="1"/>
          <p:nvPr/>
        </p:nvSpPr>
        <p:spPr>
          <a:xfrm>
            <a:off x="2066543" y="5742432"/>
            <a:ext cx="1060704" cy="228600"/>
          </a:xfrm>
          <a:prstGeom prst="rect">
            <a:avLst/>
          </a:prstGeom>
          <a:noFill/>
        </p:spPr>
        <p:txBody>
          <a:bodyPr wrap="square" lIns="25400" tIns="25400" rIns="25400" bIns="25400" anchor="t">
            <a:spAutoFit/>
          </a:bodyPr>
          <a:lstStyle/>
          <a:p>
            <a:pPr algn="ctr">
              <a:lnSpc>
                <a:spcPct val="100000"/>
              </a:lnSpc>
              <a:spcAft>
                <a:spcPts val="400"/>
              </a:spcAft>
            </a:pPr>
            <a:r>
              <a:rPr sz="750" b="0">
                <a:solidFill>
                  <a:srgbClr val="5B6635"/>
                </a:solidFill>
                <a:latin typeface="Inter"/>
              </a:rPr>
              <a:t>time-resolved</a:t>
            </a:r>
          </a:p>
        </p:txBody>
      </p:sp>
      <p:sp>
        <p:nvSpPr>
          <p:cNvPr id="37" name="Rectangle 36"/>
          <p:cNvSpPr/>
          <p:nvPr/>
        </p:nvSpPr>
        <p:spPr>
          <a:xfrm>
            <a:off x="3300984" y="4159377"/>
            <a:ext cx="301752" cy="1327023"/>
          </a:xfrm>
          <a:prstGeom prst="rect">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3639312" y="5006340"/>
            <a:ext cx="301752" cy="480059"/>
          </a:xfrm>
          <a:prstGeom prst="rect">
            <a:avLst/>
          </a:prstGeom>
          <a:solidFill>
            <a:srgbClr val="889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209544" y="3939921"/>
            <a:ext cx="484632" cy="201168"/>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2D331A"/>
                </a:solidFill>
                <a:latin typeface="Inter"/>
              </a:rPr>
              <a:t>39</a:t>
            </a:r>
          </a:p>
        </p:txBody>
      </p:sp>
      <p:sp>
        <p:nvSpPr>
          <p:cNvPr id="40" name="TextBox 39"/>
          <p:cNvSpPr txBox="1"/>
          <p:nvPr/>
        </p:nvSpPr>
        <p:spPr>
          <a:xfrm>
            <a:off x="3602736" y="4786883"/>
            <a:ext cx="484632" cy="201168"/>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2D331A"/>
                </a:solidFill>
                <a:latin typeface="Inter"/>
              </a:rPr>
              <a:t>14</a:t>
            </a:r>
          </a:p>
        </p:txBody>
      </p:sp>
      <p:sp>
        <p:nvSpPr>
          <p:cNvPr id="41" name="TextBox 40"/>
          <p:cNvSpPr txBox="1"/>
          <p:nvPr/>
        </p:nvSpPr>
        <p:spPr>
          <a:xfrm>
            <a:off x="3163824" y="5522976"/>
            <a:ext cx="877824" cy="228600"/>
          </a:xfrm>
          <a:prstGeom prst="rect">
            <a:avLst/>
          </a:prstGeom>
          <a:noFill/>
        </p:spPr>
        <p:txBody>
          <a:bodyPr wrap="square" lIns="25400" tIns="25400" rIns="25400" bIns="25400" anchor="t">
            <a:spAutoFit/>
          </a:bodyPr>
          <a:lstStyle/>
          <a:p>
            <a:pPr algn="ctr">
              <a:lnSpc>
                <a:spcPct val="100000"/>
              </a:lnSpc>
              <a:spcAft>
                <a:spcPts val="400"/>
              </a:spcAft>
            </a:pPr>
            <a:r>
              <a:rPr sz="1100" b="0">
                <a:solidFill>
                  <a:srgbClr val="2D331A"/>
                </a:solidFill>
                <a:latin typeface="Inter"/>
              </a:rPr>
              <a:t>T2</a:t>
            </a:r>
          </a:p>
        </p:txBody>
      </p:sp>
      <p:sp>
        <p:nvSpPr>
          <p:cNvPr id="42" name="TextBox 41"/>
          <p:cNvSpPr txBox="1"/>
          <p:nvPr/>
        </p:nvSpPr>
        <p:spPr>
          <a:xfrm>
            <a:off x="3072384" y="5742432"/>
            <a:ext cx="1060704" cy="228600"/>
          </a:xfrm>
          <a:prstGeom prst="rect">
            <a:avLst/>
          </a:prstGeom>
          <a:noFill/>
        </p:spPr>
        <p:txBody>
          <a:bodyPr wrap="square" lIns="25400" tIns="25400" rIns="25400" bIns="25400" anchor="t">
            <a:spAutoFit/>
          </a:bodyPr>
          <a:lstStyle/>
          <a:p>
            <a:pPr algn="ctr">
              <a:lnSpc>
                <a:spcPct val="100000"/>
              </a:lnSpc>
              <a:spcAft>
                <a:spcPts val="400"/>
              </a:spcAft>
            </a:pPr>
            <a:r>
              <a:rPr sz="750" b="0">
                <a:solidFill>
                  <a:srgbClr val="5B6635"/>
                </a:solidFill>
                <a:latin typeface="Inter"/>
              </a:rPr>
              <a:t>V-JEPA 2 + S3D</a:t>
            </a:r>
          </a:p>
        </p:txBody>
      </p:sp>
      <p:sp>
        <p:nvSpPr>
          <p:cNvPr id="43" name="Rectangle 42"/>
          <p:cNvSpPr/>
          <p:nvPr/>
        </p:nvSpPr>
        <p:spPr>
          <a:xfrm>
            <a:off x="4306824" y="3686175"/>
            <a:ext cx="301752" cy="1800225"/>
          </a:xfrm>
          <a:prstGeom prst="rect">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645152" y="4697730"/>
            <a:ext cx="301752" cy="788669"/>
          </a:xfrm>
          <a:prstGeom prst="rect">
            <a:avLst/>
          </a:prstGeom>
          <a:solidFill>
            <a:srgbClr val="889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215384" y="3466719"/>
            <a:ext cx="484632" cy="201168"/>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2D331A"/>
                </a:solidFill>
                <a:latin typeface="Inter"/>
              </a:rPr>
              <a:t>52</a:t>
            </a:r>
          </a:p>
        </p:txBody>
      </p:sp>
      <p:sp>
        <p:nvSpPr>
          <p:cNvPr id="46" name="TextBox 45"/>
          <p:cNvSpPr txBox="1"/>
          <p:nvPr/>
        </p:nvSpPr>
        <p:spPr>
          <a:xfrm>
            <a:off x="4608576" y="4478274"/>
            <a:ext cx="484632" cy="201168"/>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2D331A"/>
                </a:solidFill>
                <a:latin typeface="Inter"/>
              </a:rPr>
              <a:t>23</a:t>
            </a:r>
          </a:p>
        </p:txBody>
      </p:sp>
      <p:sp>
        <p:nvSpPr>
          <p:cNvPr id="47" name="TextBox 46"/>
          <p:cNvSpPr txBox="1"/>
          <p:nvPr/>
        </p:nvSpPr>
        <p:spPr>
          <a:xfrm>
            <a:off x="4169663" y="5522976"/>
            <a:ext cx="877824" cy="228600"/>
          </a:xfrm>
          <a:prstGeom prst="rect">
            <a:avLst/>
          </a:prstGeom>
          <a:noFill/>
        </p:spPr>
        <p:txBody>
          <a:bodyPr wrap="square" lIns="25400" tIns="25400" rIns="25400" bIns="25400" anchor="t">
            <a:spAutoFit/>
          </a:bodyPr>
          <a:lstStyle/>
          <a:p>
            <a:pPr algn="ctr">
              <a:lnSpc>
                <a:spcPct val="100000"/>
              </a:lnSpc>
              <a:spcAft>
                <a:spcPts val="400"/>
              </a:spcAft>
            </a:pPr>
            <a:r>
              <a:rPr sz="1100" b="0">
                <a:solidFill>
                  <a:srgbClr val="2D331A"/>
                </a:solidFill>
                <a:latin typeface="Inter"/>
              </a:rPr>
              <a:t>WF1</a:t>
            </a:r>
          </a:p>
        </p:txBody>
      </p:sp>
      <p:sp>
        <p:nvSpPr>
          <p:cNvPr id="48" name="TextBox 47"/>
          <p:cNvSpPr txBox="1"/>
          <p:nvPr/>
        </p:nvSpPr>
        <p:spPr>
          <a:xfrm>
            <a:off x="4078224" y="5742432"/>
            <a:ext cx="1060704" cy="228600"/>
          </a:xfrm>
          <a:prstGeom prst="rect">
            <a:avLst/>
          </a:prstGeom>
          <a:noFill/>
        </p:spPr>
        <p:txBody>
          <a:bodyPr wrap="square" lIns="25400" tIns="25400" rIns="25400" bIns="25400" anchor="t">
            <a:spAutoFit/>
          </a:bodyPr>
          <a:lstStyle/>
          <a:p>
            <a:pPr algn="ctr">
              <a:lnSpc>
                <a:spcPct val="100000"/>
              </a:lnSpc>
              <a:spcAft>
                <a:spcPts val="400"/>
              </a:spcAft>
            </a:pPr>
            <a:r>
              <a:rPr sz="750" b="0">
                <a:solidFill>
                  <a:srgbClr val="5B6635"/>
                </a:solidFill>
                <a:latin typeface="Inter"/>
              </a:rPr>
              <a:t>winfuse 509</a:t>
            </a:r>
          </a:p>
        </p:txBody>
      </p:sp>
      <p:sp>
        <p:nvSpPr>
          <p:cNvPr id="49" name="Rectangle 48"/>
          <p:cNvSpPr/>
          <p:nvPr/>
        </p:nvSpPr>
        <p:spPr>
          <a:xfrm>
            <a:off x="5312664" y="3518154"/>
            <a:ext cx="301752" cy="1968245"/>
          </a:xfrm>
          <a:prstGeom prst="rect">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5650992" y="4577715"/>
            <a:ext cx="301752" cy="908684"/>
          </a:xfrm>
          <a:prstGeom prst="rect">
            <a:avLst/>
          </a:prstGeom>
          <a:solidFill>
            <a:srgbClr val="889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221224" y="3298698"/>
            <a:ext cx="484632" cy="201168"/>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2D331A"/>
                </a:solidFill>
                <a:latin typeface="Inter"/>
              </a:rPr>
              <a:t>57</a:t>
            </a:r>
          </a:p>
        </p:txBody>
      </p:sp>
      <p:sp>
        <p:nvSpPr>
          <p:cNvPr id="52" name="TextBox 51"/>
          <p:cNvSpPr txBox="1"/>
          <p:nvPr/>
        </p:nvSpPr>
        <p:spPr>
          <a:xfrm>
            <a:off x="5614416" y="4358258"/>
            <a:ext cx="484632" cy="201168"/>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2D331A"/>
                </a:solidFill>
                <a:latin typeface="Inter"/>
              </a:rPr>
              <a:t>26</a:t>
            </a:r>
          </a:p>
        </p:txBody>
      </p:sp>
      <p:sp>
        <p:nvSpPr>
          <p:cNvPr id="53" name="TextBox 52"/>
          <p:cNvSpPr txBox="1"/>
          <p:nvPr/>
        </p:nvSpPr>
        <p:spPr>
          <a:xfrm>
            <a:off x="5175504" y="5522976"/>
            <a:ext cx="877824" cy="228600"/>
          </a:xfrm>
          <a:prstGeom prst="rect">
            <a:avLst/>
          </a:prstGeom>
          <a:noFill/>
        </p:spPr>
        <p:txBody>
          <a:bodyPr wrap="square" lIns="25400" tIns="25400" rIns="25400" bIns="25400" anchor="t">
            <a:spAutoFit/>
          </a:bodyPr>
          <a:lstStyle/>
          <a:p>
            <a:pPr algn="ctr">
              <a:lnSpc>
                <a:spcPct val="100000"/>
              </a:lnSpc>
              <a:spcAft>
                <a:spcPts val="400"/>
              </a:spcAft>
            </a:pPr>
            <a:r>
              <a:rPr sz="1100" b="0">
                <a:solidFill>
                  <a:srgbClr val="2D331A"/>
                </a:solidFill>
                <a:latin typeface="Inter"/>
              </a:rPr>
              <a:t>C3</a:t>
            </a:r>
          </a:p>
        </p:txBody>
      </p:sp>
      <p:sp>
        <p:nvSpPr>
          <p:cNvPr id="54" name="TextBox 53"/>
          <p:cNvSpPr txBox="1"/>
          <p:nvPr/>
        </p:nvSpPr>
        <p:spPr>
          <a:xfrm>
            <a:off x="5084064" y="5742432"/>
            <a:ext cx="1060704" cy="228600"/>
          </a:xfrm>
          <a:prstGeom prst="rect">
            <a:avLst/>
          </a:prstGeom>
          <a:noFill/>
        </p:spPr>
        <p:txBody>
          <a:bodyPr wrap="square" lIns="25400" tIns="25400" rIns="25400" bIns="25400" anchor="t">
            <a:spAutoFit/>
          </a:bodyPr>
          <a:lstStyle/>
          <a:p>
            <a:pPr algn="ctr">
              <a:lnSpc>
                <a:spcPct val="100000"/>
              </a:lnSpc>
              <a:spcAft>
                <a:spcPts val="400"/>
              </a:spcAft>
            </a:pPr>
            <a:r>
              <a:rPr sz="750" b="0">
                <a:solidFill>
                  <a:srgbClr val="5B6635"/>
                </a:solidFill>
                <a:latin typeface="Inter"/>
              </a:rPr>
              <a:t>both pipelines</a:t>
            </a:r>
          </a:p>
        </p:txBody>
      </p:sp>
      <p:sp>
        <p:nvSpPr>
          <p:cNvPr id="55" name="Rectangle 54"/>
          <p:cNvSpPr/>
          <p:nvPr/>
        </p:nvSpPr>
        <p:spPr>
          <a:xfrm>
            <a:off x="6318504" y="3350133"/>
            <a:ext cx="301752" cy="2136266"/>
          </a:xfrm>
          <a:prstGeom prst="rect">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6656832" y="4426839"/>
            <a:ext cx="301752" cy="1059561"/>
          </a:xfrm>
          <a:prstGeom prst="rect">
            <a:avLst/>
          </a:prstGeom>
          <a:solidFill>
            <a:srgbClr val="889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227064" y="3130677"/>
            <a:ext cx="484632" cy="201168"/>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2D331A"/>
                </a:solidFill>
                <a:latin typeface="Inter"/>
              </a:rPr>
              <a:t>62</a:t>
            </a:r>
          </a:p>
        </p:txBody>
      </p:sp>
      <p:sp>
        <p:nvSpPr>
          <p:cNvPr id="58" name="TextBox 57"/>
          <p:cNvSpPr txBox="1"/>
          <p:nvPr/>
        </p:nvSpPr>
        <p:spPr>
          <a:xfrm>
            <a:off x="6620256" y="4207383"/>
            <a:ext cx="484632" cy="201168"/>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2D331A"/>
                </a:solidFill>
                <a:latin typeface="Inter"/>
              </a:rPr>
              <a:t>31</a:t>
            </a:r>
          </a:p>
        </p:txBody>
      </p:sp>
      <p:sp>
        <p:nvSpPr>
          <p:cNvPr id="59" name="TextBox 58"/>
          <p:cNvSpPr txBox="1"/>
          <p:nvPr/>
        </p:nvSpPr>
        <p:spPr>
          <a:xfrm>
            <a:off x="6181344" y="5522976"/>
            <a:ext cx="877824" cy="228600"/>
          </a:xfrm>
          <a:prstGeom prst="rect">
            <a:avLst/>
          </a:prstGeom>
          <a:noFill/>
        </p:spPr>
        <p:txBody>
          <a:bodyPr wrap="square" lIns="25400" tIns="25400" rIns="25400" bIns="25400" anchor="t">
            <a:spAutoFit/>
          </a:bodyPr>
          <a:lstStyle/>
          <a:p>
            <a:pPr algn="ctr">
              <a:lnSpc>
                <a:spcPct val="100000"/>
              </a:lnSpc>
              <a:spcAft>
                <a:spcPts val="400"/>
              </a:spcAft>
            </a:pPr>
            <a:r>
              <a:rPr sz="1100" b="0">
                <a:solidFill>
                  <a:srgbClr val="2D331A"/>
                </a:solidFill>
                <a:latin typeface="Inter"/>
              </a:rPr>
              <a:t>C5</a:t>
            </a:r>
          </a:p>
        </p:txBody>
      </p:sp>
      <p:sp>
        <p:nvSpPr>
          <p:cNvPr id="60" name="TextBox 59"/>
          <p:cNvSpPr txBox="1"/>
          <p:nvPr/>
        </p:nvSpPr>
        <p:spPr>
          <a:xfrm>
            <a:off x="6089904" y="5742432"/>
            <a:ext cx="1060704" cy="228600"/>
          </a:xfrm>
          <a:prstGeom prst="rect">
            <a:avLst/>
          </a:prstGeom>
          <a:noFill/>
        </p:spPr>
        <p:txBody>
          <a:bodyPr wrap="square" lIns="25400" tIns="25400" rIns="25400" bIns="25400" anchor="t">
            <a:spAutoFit/>
          </a:bodyPr>
          <a:lstStyle/>
          <a:p>
            <a:pPr algn="ctr">
              <a:lnSpc>
                <a:spcPct val="100000"/>
              </a:lnSpc>
              <a:spcAft>
                <a:spcPts val="400"/>
              </a:spcAft>
            </a:pPr>
            <a:r>
              <a:rPr sz="750" b="0">
                <a:solidFill>
                  <a:srgbClr val="5B6635"/>
                </a:solidFill>
                <a:latin typeface="Inter"/>
              </a:rPr>
              <a:t>+ CSLS</a:t>
            </a:r>
          </a:p>
        </p:txBody>
      </p:sp>
      <p:sp>
        <p:nvSpPr>
          <p:cNvPr id="61" name="Rectangle 60"/>
          <p:cNvSpPr/>
          <p:nvPr/>
        </p:nvSpPr>
        <p:spPr>
          <a:xfrm>
            <a:off x="7324344" y="3199257"/>
            <a:ext cx="301752" cy="2287143"/>
          </a:xfrm>
          <a:prstGeom prst="rect">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7662671" y="4368546"/>
            <a:ext cx="301752" cy="1117854"/>
          </a:xfrm>
          <a:prstGeom prst="rect">
            <a:avLst/>
          </a:prstGeom>
          <a:solidFill>
            <a:srgbClr val="889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232904" y="2979801"/>
            <a:ext cx="484632" cy="201168"/>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2D331A"/>
                </a:solidFill>
                <a:latin typeface="Inter"/>
              </a:rPr>
              <a:t>67</a:t>
            </a:r>
          </a:p>
        </p:txBody>
      </p:sp>
      <p:sp>
        <p:nvSpPr>
          <p:cNvPr id="64" name="TextBox 63"/>
          <p:cNvSpPr txBox="1"/>
          <p:nvPr/>
        </p:nvSpPr>
        <p:spPr>
          <a:xfrm>
            <a:off x="7626096" y="4149089"/>
            <a:ext cx="484632" cy="201168"/>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2D331A"/>
                </a:solidFill>
                <a:latin typeface="Inter"/>
              </a:rPr>
              <a:t>33</a:t>
            </a:r>
          </a:p>
        </p:txBody>
      </p:sp>
      <p:sp>
        <p:nvSpPr>
          <p:cNvPr id="65" name="TextBox 64"/>
          <p:cNvSpPr txBox="1"/>
          <p:nvPr/>
        </p:nvSpPr>
        <p:spPr>
          <a:xfrm>
            <a:off x="7187183" y="5522976"/>
            <a:ext cx="877824" cy="228600"/>
          </a:xfrm>
          <a:prstGeom prst="rect">
            <a:avLst/>
          </a:prstGeom>
          <a:noFill/>
        </p:spPr>
        <p:txBody>
          <a:bodyPr wrap="square" lIns="25400" tIns="25400" rIns="25400" bIns="25400" anchor="t">
            <a:spAutoFit/>
          </a:bodyPr>
          <a:lstStyle/>
          <a:p>
            <a:pPr algn="ctr">
              <a:lnSpc>
                <a:spcPct val="100000"/>
              </a:lnSpc>
              <a:spcAft>
                <a:spcPts val="400"/>
              </a:spcAft>
            </a:pPr>
            <a:r>
              <a:rPr sz="1100" b="0">
                <a:solidFill>
                  <a:srgbClr val="2D331A"/>
                </a:solidFill>
                <a:latin typeface="Inter"/>
              </a:rPr>
              <a:t>C10</a:t>
            </a:r>
          </a:p>
        </p:txBody>
      </p:sp>
      <p:sp>
        <p:nvSpPr>
          <p:cNvPr id="66" name="TextBox 65"/>
          <p:cNvSpPr txBox="1"/>
          <p:nvPr/>
        </p:nvSpPr>
        <p:spPr>
          <a:xfrm>
            <a:off x="7095744" y="5742432"/>
            <a:ext cx="1060704" cy="228600"/>
          </a:xfrm>
          <a:prstGeom prst="rect">
            <a:avLst/>
          </a:prstGeom>
          <a:noFill/>
        </p:spPr>
        <p:txBody>
          <a:bodyPr wrap="square" lIns="25400" tIns="25400" rIns="25400" bIns="25400" anchor="t">
            <a:spAutoFit/>
          </a:bodyPr>
          <a:lstStyle/>
          <a:p>
            <a:pPr algn="ctr">
              <a:lnSpc>
                <a:spcPct val="100000"/>
              </a:lnSpc>
              <a:spcAft>
                <a:spcPts val="400"/>
              </a:spcAft>
            </a:pPr>
            <a:r>
              <a:rPr sz="750" b="0">
                <a:solidFill>
                  <a:srgbClr val="5B6635"/>
                </a:solidFill>
                <a:latin typeface="Inter"/>
              </a:rPr>
              <a:t>+ align, Sinkhorn</a:t>
            </a:r>
          </a:p>
        </p:txBody>
      </p:sp>
      <p:sp>
        <p:nvSpPr>
          <p:cNvPr id="67" name="Rectangle 66"/>
          <p:cNvSpPr/>
          <p:nvPr/>
        </p:nvSpPr>
        <p:spPr>
          <a:xfrm>
            <a:off x="8330183" y="3216402"/>
            <a:ext cx="301752" cy="2269998"/>
          </a:xfrm>
          <a:prstGeom prst="rect">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8668511" y="4299966"/>
            <a:ext cx="301752" cy="1186434"/>
          </a:xfrm>
          <a:prstGeom prst="rect">
            <a:avLst/>
          </a:prstGeom>
          <a:solidFill>
            <a:srgbClr val="889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238744" y="2996946"/>
            <a:ext cx="484632" cy="201168"/>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2D331A"/>
                </a:solidFill>
                <a:latin typeface="Inter"/>
              </a:rPr>
              <a:t>66</a:t>
            </a:r>
          </a:p>
        </p:txBody>
      </p:sp>
      <p:sp>
        <p:nvSpPr>
          <p:cNvPr id="70" name="TextBox 69"/>
          <p:cNvSpPr txBox="1"/>
          <p:nvPr/>
        </p:nvSpPr>
        <p:spPr>
          <a:xfrm>
            <a:off x="8631936" y="4080510"/>
            <a:ext cx="484632" cy="201168"/>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2D331A"/>
                </a:solidFill>
                <a:latin typeface="Inter"/>
              </a:rPr>
              <a:t>35</a:t>
            </a:r>
          </a:p>
        </p:txBody>
      </p:sp>
      <p:sp>
        <p:nvSpPr>
          <p:cNvPr id="71" name="TextBox 70"/>
          <p:cNvSpPr txBox="1"/>
          <p:nvPr/>
        </p:nvSpPr>
        <p:spPr>
          <a:xfrm>
            <a:off x="8193023" y="5522976"/>
            <a:ext cx="877824" cy="228600"/>
          </a:xfrm>
          <a:prstGeom prst="rect">
            <a:avLst/>
          </a:prstGeom>
          <a:noFill/>
        </p:spPr>
        <p:txBody>
          <a:bodyPr wrap="square" lIns="25400" tIns="25400" rIns="25400" bIns="25400" anchor="t">
            <a:spAutoFit/>
          </a:bodyPr>
          <a:lstStyle/>
          <a:p>
            <a:pPr algn="ctr">
              <a:lnSpc>
                <a:spcPct val="100000"/>
              </a:lnSpc>
              <a:spcAft>
                <a:spcPts val="400"/>
              </a:spcAft>
            </a:pPr>
            <a:r>
              <a:rPr sz="1100" b="0">
                <a:solidFill>
                  <a:srgbClr val="2D331A"/>
                </a:solidFill>
                <a:latin typeface="Inter"/>
              </a:rPr>
              <a:t>C11</a:t>
            </a:r>
          </a:p>
        </p:txBody>
      </p:sp>
      <p:sp>
        <p:nvSpPr>
          <p:cNvPr id="72" name="TextBox 71"/>
          <p:cNvSpPr txBox="1"/>
          <p:nvPr/>
        </p:nvSpPr>
        <p:spPr>
          <a:xfrm>
            <a:off x="8101583" y="5742432"/>
            <a:ext cx="1060704" cy="228600"/>
          </a:xfrm>
          <a:prstGeom prst="rect">
            <a:avLst/>
          </a:prstGeom>
          <a:noFill/>
        </p:spPr>
        <p:txBody>
          <a:bodyPr wrap="square" lIns="25400" tIns="25400" rIns="25400" bIns="25400" anchor="t">
            <a:spAutoFit/>
          </a:bodyPr>
          <a:lstStyle/>
          <a:p>
            <a:pPr algn="ctr">
              <a:lnSpc>
                <a:spcPct val="100000"/>
              </a:lnSpc>
              <a:spcAft>
                <a:spcPts val="400"/>
              </a:spcAft>
            </a:pPr>
            <a:r>
              <a:rPr sz="750" b="0">
                <a:solidFill>
                  <a:srgbClr val="5B6635"/>
                </a:solidFill>
                <a:latin typeface="Inter"/>
              </a:rPr>
              <a:t>+ neural net</a:t>
            </a:r>
          </a:p>
        </p:txBody>
      </p:sp>
      <p:sp>
        <p:nvSpPr>
          <p:cNvPr id="73" name="Rectangle 72"/>
          <p:cNvSpPr/>
          <p:nvPr/>
        </p:nvSpPr>
        <p:spPr>
          <a:xfrm>
            <a:off x="9336024" y="3175254"/>
            <a:ext cx="301752" cy="2311146"/>
          </a:xfrm>
          <a:prstGeom prst="rect">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9674352" y="4282821"/>
            <a:ext cx="301752" cy="1203579"/>
          </a:xfrm>
          <a:prstGeom prst="rect">
            <a:avLst/>
          </a:prstGeom>
          <a:solidFill>
            <a:srgbClr val="889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244584" y="2955798"/>
            <a:ext cx="484632" cy="201168"/>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2D331A"/>
                </a:solidFill>
                <a:latin typeface="Inter"/>
              </a:rPr>
              <a:t>67</a:t>
            </a:r>
          </a:p>
        </p:txBody>
      </p:sp>
      <p:sp>
        <p:nvSpPr>
          <p:cNvPr id="76" name="TextBox 75"/>
          <p:cNvSpPr txBox="1"/>
          <p:nvPr/>
        </p:nvSpPr>
        <p:spPr>
          <a:xfrm>
            <a:off x="9637776" y="4063364"/>
            <a:ext cx="484632" cy="201168"/>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2D331A"/>
                </a:solidFill>
                <a:latin typeface="Inter"/>
              </a:rPr>
              <a:t>35</a:t>
            </a:r>
          </a:p>
        </p:txBody>
      </p:sp>
      <p:sp>
        <p:nvSpPr>
          <p:cNvPr id="77" name="TextBox 76"/>
          <p:cNvSpPr txBox="1"/>
          <p:nvPr/>
        </p:nvSpPr>
        <p:spPr>
          <a:xfrm>
            <a:off x="9198864" y="5522976"/>
            <a:ext cx="877824" cy="228600"/>
          </a:xfrm>
          <a:prstGeom prst="rect">
            <a:avLst/>
          </a:prstGeom>
          <a:noFill/>
        </p:spPr>
        <p:txBody>
          <a:bodyPr wrap="square" lIns="25400" tIns="25400" rIns="25400" bIns="25400" anchor="t">
            <a:spAutoFit/>
          </a:bodyPr>
          <a:lstStyle/>
          <a:p>
            <a:pPr algn="ctr">
              <a:lnSpc>
                <a:spcPct val="100000"/>
              </a:lnSpc>
              <a:spcAft>
                <a:spcPts val="400"/>
              </a:spcAft>
            </a:pPr>
            <a:r>
              <a:rPr sz="1100" b="0">
                <a:solidFill>
                  <a:srgbClr val="2D331A"/>
                </a:solidFill>
                <a:latin typeface="Inter"/>
              </a:rPr>
              <a:t>C12</a:t>
            </a:r>
          </a:p>
        </p:txBody>
      </p:sp>
      <p:sp>
        <p:nvSpPr>
          <p:cNvPr id="78" name="TextBox 77"/>
          <p:cNvSpPr txBox="1"/>
          <p:nvPr/>
        </p:nvSpPr>
        <p:spPr>
          <a:xfrm>
            <a:off x="9107424" y="5742432"/>
            <a:ext cx="1060704" cy="228600"/>
          </a:xfrm>
          <a:prstGeom prst="rect">
            <a:avLst/>
          </a:prstGeom>
          <a:noFill/>
        </p:spPr>
        <p:txBody>
          <a:bodyPr wrap="square" lIns="25400" tIns="25400" rIns="25400" bIns="25400" anchor="t">
            <a:spAutoFit/>
          </a:bodyPr>
          <a:lstStyle/>
          <a:p>
            <a:pPr algn="ctr">
              <a:lnSpc>
                <a:spcPct val="100000"/>
              </a:lnSpc>
              <a:spcAft>
                <a:spcPts val="400"/>
              </a:spcAft>
            </a:pPr>
            <a:r>
              <a:rPr sz="750" b="0">
                <a:solidFill>
                  <a:srgbClr val="5B6635"/>
                </a:solidFill>
                <a:latin typeface="Inter"/>
              </a:rPr>
              <a:t>+ 7 heads</a:t>
            </a:r>
          </a:p>
        </p:txBody>
      </p:sp>
      <p:sp>
        <p:nvSpPr>
          <p:cNvPr id="79" name="Rectangle 78"/>
          <p:cNvSpPr/>
          <p:nvPr/>
        </p:nvSpPr>
        <p:spPr>
          <a:xfrm>
            <a:off x="10341863" y="3182111"/>
            <a:ext cx="301752" cy="2304288"/>
          </a:xfrm>
          <a:prstGeom prst="rect">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10680191" y="4251960"/>
            <a:ext cx="301752" cy="1234440"/>
          </a:xfrm>
          <a:prstGeom prst="rect">
            <a:avLst/>
          </a:prstGeom>
          <a:solidFill>
            <a:srgbClr val="889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p:cNvSpPr/>
          <p:nvPr/>
        </p:nvSpPr>
        <p:spPr>
          <a:xfrm>
            <a:off x="10268711" y="2697480"/>
            <a:ext cx="822960" cy="3246120"/>
          </a:xfrm>
          <a:prstGeom prst="roundRect">
            <a:avLst>
              <a:gd name="adj" fmla="val 10000"/>
            </a:avLst>
          </a:prstGeom>
          <a:noFill/>
          <a:ln w="19050">
            <a:solidFill>
              <a:srgbClr val="533E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10250424" y="2962655"/>
            <a:ext cx="484632" cy="201168"/>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2D331A"/>
                </a:solidFill>
                <a:latin typeface="Inter"/>
              </a:rPr>
              <a:t>67</a:t>
            </a:r>
          </a:p>
        </p:txBody>
      </p:sp>
      <p:sp>
        <p:nvSpPr>
          <p:cNvPr id="83" name="TextBox 82"/>
          <p:cNvSpPr txBox="1"/>
          <p:nvPr/>
        </p:nvSpPr>
        <p:spPr>
          <a:xfrm>
            <a:off x="10643615" y="4032504"/>
            <a:ext cx="484632" cy="201168"/>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2D331A"/>
                </a:solidFill>
                <a:latin typeface="Inter"/>
              </a:rPr>
              <a:t>36</a:t>
            </a:r>
          </a:p>
        </p:txBody>
      </p:sp>
      <p:sp>
        <p:nvSpPr>
          <p:cNvPr id="84" name="TextBox 83"/>
          <p:cNvSpPr txBox="1"/>
          <p:nvPr/>
        </p:nvSpPr>
        <p:spPr>
          <a:xfrm>
            <a:off x="10204703" y="5522976"/>
            <a:ext cx="877824" cy="228600"/>
          </a:xfrm>
          <a:prstGeom prst="rect">
            <a:avLst/>
          </a:prstGeom>
          <a:noFill/>
        </p:spPr>
        <p:txBody>
          <a:bodyPr wrap="square" lIns="25400" tIns="25400" rIns="25400" bIns="25400" anchor="t">
            <a:spAutoFit/>
          </a:bodyPr>
          <a:lstStyle/>
          <a:p>
            <a:pPr algn="ctr">
              <a:lnSpc>
                <a:spcPct val="100000"/>
              </a:lnSpc>
              <a:spcAft>
                <a:spcPts val="400"/>
              </a:spcAft>
            </a:pPr>
            <a:r>
              <a:rPr sz="1100" b="1">
                <a:solidFill>
                  <a:srgbClr val="2D331A"/>
                </a:solidFill>
                <a:latin typeface="Inter"/>
              </a:rPr>
              <a:t>C13</a:t>
            </a:r>
          </a:p>
        </p:txBody>
      </p:sp>
      <p:sp>
        <p:nvSpPr>
          <p:cNvPr id="85" name="TextBox 84"/>
          <p:cNvSpPr txBox="1"/>
          <p:nvPr/>
        </p:nvSpPr>
        <p:spPr>
          <a:xfrm>
            <a:off x="10113263" y="5742432"/>
            <a:ext cx="1060704" cy="228600"/>
          </a:xfrm>
          <a:prstGeom prst="rect">
            <a:avLst/>
          </a:prstGeom>
          <a:noFill/>
        </p:spPr>
        <p:txBody>
          <a:bodyPr wrap="square" lIns="25400" tIns="25400" rIns="25400" bIns="25400" anchor="t">
            <a:spAutoFit/>
          </a:bodyPr>
          <a:lstStyle/>
          <a:p>
            <a:pPr algn="ctr">
              <a:lnSpc>
                <a:spcPct val="100000"/>
              </a:lnSpc>
              <a:spcAft>
                <a:spcPts val="400"/>
              </a:spcAft>
            </a:pPr>
            <a:r>
              <a:rPr sz="750" b="0">
                <a:solidFill>
                  <a:srgbClr val="5B6635"/>
                </a:solidFill>
                <a:latin typeface="Inter"/>
              </a:rPr>
              <a:t>+ 2 neural nets</a:t>
            </a:r>
          </a:p>
        </p:txBody>
      </p:sp>
      <p:sp>
        <p:nvSpPr>
          <p:cNvPr id="86" name="TextBox 85"/>
          <p:cNvSpPr txBox="1"/>
          <p:nvPr/>
        </p:nvSpPr>
        <p:spPr>
          <a:xfrm>
            <a:off x="548640" y="6428232"/>
            <a:ext cx="8229600" cy="320040"/>
          </a:xfrm>
          <a:prstGeom prst="rect">
            <a:avLst/>
          </a:prstGeom>
          <a:noFill/>
        </p:spPr>
        <p:txBody>
          <a:bodyPr wrap="square" lIns="25400" tIns="25400" rIns="25400" bIns="25400" anchor="t">
            <a:spAutoFit/>
          </a:bodyPr>
          <a:lstStyle/>
          <a:p>
            <a:pPr algn="l">
              <a:lnSpc>
                <a:spcPct val="100000"/>
              </a:lnSpc>
              <a:spcAft>
                <a:spcPts val="400"/>
              </a:spcAft>
            </a:pPr>
            <a:r>
              <a:rPr sz="850" b="1">
                <a:solidFill>
                  <a:srgbClr val="5B6635"/>
                </a:solidFill>
                <a:latin typeface="Inter"/>
              </a:rPr>
              <a:t>NEUROBYTES · EEG-TO-VIDEO RETRIEVAL</a:t>
            </a:r>
          </a:p>
        </p:txBody>
      </p:sp>
      <p:sp>
        <p:nvSpPr>
          <p:cNvPr id="87" name="TextBox 86"/>
          <p:cNvSpPr txBox="1"/>
          <p:nvPr/>
        </p:nvSpPr>
        <p:spPr>
          <a:xfrm>
            <a:off x="10881360" y="6428232"/>
            <a:ext cx="822960" cy="320040"/>
          </a:xfrm>
          <a:prstGeom prst="rect">
            <a:avLst/>
          </a:prstGeom>
          <a:noFill/>
        </p:spPr>
        <p:txBody>
          <a:bodyPr wrap="square" lIns="25400" tIns="25400" rIns="25400" bIns="25400" anchor="t">
            <a:spAutoFit/>
          </a:bodyPr>
          <a:lstStyle/>
          <a:p>
            <a:pPr algn="r">
              <a:lnSpc>
                <a:spcPct val="100000"/>
              </a:lnSpc>
              <a:spcAft>
                <a:spcPts val="400"/>
              </a:spcAft>
            </a:pPr>
            <a:r>
              <a:rPr sz="900" b="1">
                <a:solidFill>
                  <a:srgbClr val="5B6635"/>
                </a:solidFill>
                <a:latin typeface="Inter"/>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EF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503920" y="-1280160"/>
            <a:ext cx="5029200" cy="3657600"/>
          </a:xfrm>
          <a:prstGeom prst="roundRect">
            <a:avLst>
              <a:gd name="adj" fmla="val 50000"/>
            </a:avLst>
          </a:prstGeom>
          <a:solidFill>
            <a:srgbClr val="F3EB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463040" y="1463040"/>
            <a:ext cx="4206240" cy="3291840"/>
          </a:xfrm>
          <a:prstGeom prst="roundRect">
            <a:avLst>
              <a:gd name="adj" fmla="val 50000"/>
            </a:avLst>
          </a:prstGeom>
          <a:solidFill>
            <a:srgbClr val="EEE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603504"/>
            <a:ext cx="384048" cy="25603"/>
          </a:xfrm>
          <a:prstGeom prst="rect">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502920"/>
            <a:ext cx="7315200" cy="320040"/>
          </a:xfrm>
          <a:prstGeom prst="rect">
            <a:avLst/>
          </a:prstGeom>
          <a:noFill/>
        </p:spPr>
        <p:txBody>
          <a:bodyPr wrap="square" lIns="25400" tIns="25400" rIns="25400" bIns="25400" anchor="t">
            <a:spAutoFit/>
          </a:bodyPr>
          <a:lstStyle/>
          <a:p>
            <a:pPr algn="l">
              <a:lnSpc>
                <a:spcPct val="100000"/>
              </a:lnSpc>
              <a:spcAft>
                <a:spcPts val="400"/>
              </a:spcAft>
            </a:pPr>
            <a:r>
              <a:rPr sz="1150" b="1">
                <a:solidFill>
                  <a:srgbClr val="5B6635"/>
                </a:solidFill>
                <a:latin typeface="Inter"/>
              </a:rPr>
              <a:t>THE FINDING</a:t>
            </a:r>
          </a:p>
        </p:txBody>
      </p:sp>
      <p:sp>
        <p:nvSpPr>
          <p:cNvPr id="7" name="TextBox 6"/>
          <p:cNvSpPr txBox="1"/>
          <p:nvPr/>
        </p:nvSpPr>
        <p:spPr>
          <a:xfrm>
            <a:off x="548640" y="841248"/>
            <a:ext cx="11064240" cy="731520"/>
          </a:xfrm>
          <a:prstGeom prst="rect">
            <a:avLst/>
          </a:prstGeom>
          <a:noFill/>
        </p:spPr>
        <p:txBody>
          <a:bodyPr wrap="square" lIns="25400" tIns="25400" rIns="25400" bIns="25400" anchor="t">
            <a:spAutoFit/>
          </a:bodyPr>
          <a:lstStyle/>
          <a:p>
            <a:pPr algn="l">
              <a:lnSpc>
                <a:spcPct val="95000"/>
              </a:lnSpc>
              <a:spcAft>
                <a:spcPts val="0"/>
              </a:spcAft>
            </a:pPr>
            <a:r>
              <a:rPr sz="3000" b="0">
                <a:solidFill>
                  <a:srgbClr val="2D331A"/>
                </a:solidFill>
                <a:latin typeface="Inter"/>
              </a:rPr>
              <a:t>The signal is the </a:t>
            </a:r>
            <a:r>
              <a:rPr sz="3000" b="0">
                <a:solidFill>
                  <a:srgbClr val="5B6635"/>
                </a:solidFill>
                <a:latin typeface="Inter"/>
              </a:rPr>
              <a:t>onset response</a:t>
            </a:r>
          </a:p>
        </p:txBody>
      </p:sp>
      <p:sp>
        <p:nvSpPr>
          <p:cNvPr id="8" name="TextBox 7"/>
          <p:cNvSpPr txBox="1"/>
          <p:nvPr/>
        </p:nvSpPr>
        <p:spPr>
          <a:xfrm>
            <a:off x="548640" y="1481328"/>
            <a:ext cx="10972800" cy="457200"/>
          </a:xfrm>
          <a:prstGeom prst="rect">
            <a:avLst/>
          </a:prstGeom>
          <a:noFill/>
        </p:spPr>
        <p:txBody>
          <a:bodyPr wrap="square" lIns="25400" tIns="25400" rIns="25400" bIns="25400" anchor="t">
            <a:spAutoFit/>
          </a:bodyPr>
          <a:lstStyle/>
          <a:p>
            <a:pPr algn="l">
              <a:lnSpc>
                <a:spcPct val="110000"/>
              </a:lnSpc>
              <a:spcAft>
                <a:spcPts val="400"/>
              </a:spcAft>
            </a:pPr>
            <a:r>
              <a:rPr sz="1250" b="0">
                <a:solidFill>
                  <a:srgbClr val="5B6635"/>
                </a:solidFill>
                <a:latin typeface="Inter"/>
              </a:rPr>
              <a:t>Mean rank of the true video (of 102) when decoding from one latency window only. Lower is better; chance is 51.5.</a:t>
            </a:r>
          </a:p>
        </p:txBody>
      </p:sp>
      <p:sp>
        <p:nvSpPr>
          <p:cNvPr id="9" name="Rounded Rectangle 8"/>
          <p:cNvSpPr/>
          <p:nvPr/>
        </p:nvSpPr>
        <p:spPr>
          <a:xfrm>
            <a:off x="548640" y="2103120"/>
            <a:ext cx="11064240" cy="4069080"/>
          </a:xfrm>
          <a:prstGeom prst="roundRect">
            <a:avLst>
              <a:gd name="adj" fmla="val 8000"/>
            </a:avLst>
          </a:prstGeom>
          <a:solidFill>
            <a:srgbClr val="FFFDF3"/>
          </a:solidFill>
          <a:ln w="12700">
            <a:solidFill>
              <a:srgbClr val="CCD5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88719" y="5394960"/>
            <a:ext cx="10058400" cy="10972"/>
          </a:xfrm>
          <a:prstGeom prst="rect">
            <a:avLst/>
          </a:prstGeom>
          <a:solidFill>
            <a:srgbClr val="CCD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5266944"/>
            <a:ext cx="502920" cy="274320"/>
          </a:xfrm>
          <a:prstGeom prst="rect">
            <a:avLst/>
          </a:prstGeom>
          <a:noFill/>
        </p:spPr>
        <p:txBody>
          <a:bodyPr wrap="square" lIns="25400" tIns="25400" rIns="25400" bIns="25400" anchor="t">
            <a:spAutoFit/>
          </a:bodyPr>
          <a:lstStyle/>
          <a:p>
            <a:pPr algn="r">
              <a:lnSpc>
                <a:spcPct val="100000"/>
              </a:lnSpc>
              <a:spcAft>
                <a:spcPts val="400"/>
              </a:spcAft>
            </a:pPr>
            <a:r>
              <a:rPr sz="900" b="0">
                <a:solidFill>
                  <a:srgbClr val="5B6635"/>
                </a:solidFill>
                <a:latin typeface="Inter"/>
              </a:rPr>
              <a:t>0</a:t>
            </a:r>
          </a:p>
        </p:txBody>
      </p:sp>
      <p:sp>
        <p:nvSpPr>
          <p:cNvPr id="12" name="Rectangle 11"/>
          <p:cNvSpPr/>
          <p:nvPr/>
        </p:nvSpPr>
        <p:spPr>
          <a:xfrm>
            <a:off x="1188719" y="4419600"/>
            <a:ext cx="10058400" cy="10972"/>
          </a:xfrm>
          <a:prstGeom prst="rect">
            <a:avLst/>
          </a:prstGeom>
          <a:solidFill>
            <a:srgbClr val="CCD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4291584"/>
            <a:ext cx="502920" cy="274320"/>
          </a:xfrm>
          <a:prstGeom prst="rect">
            <a:avLst/>
          </a:prstGeom>
          <a:noFill/>
        </p:spPr>
        <p:txBody>
          <a:bodyPr wrap="square" lIns="25400" tIns="25400" rIns="25400" bIns="25400" anchor="t">
            <a:spAutoFit/>
          </a:bodyPr>
          <a:lstStyle/>
          <a:p>
            <a:pPr algn="r">
              <a:lnSpc>
                <a:spcPct val="100000"/>
              </a:lnSpc>
              <a:spcAft>
                <a:spcPts val="400"/>
              </a:spcAft>
            </a:pPr>
            <a:r>
              <a:rPr sz="900" b="0">
                <a:solidFill>
                  <a:srgbClr val="5B6635"/>
                </a:solidFill>
                <a:latin typeface="Inter"/>
              </a:rPr>
              <a:t>20</a:t>
            </a:r>
          </a:p>
        </p:txBody>
      </p:sp>
      <p:sp>
        <p:nvSpPr>
          <p:cNvPr id="14" name="Rectangle 13"/>
          <p:cNvSpPr/>
          <p:nvPr/>
        </p:nvSpPr>
        <p:spPr>
          <a:xfrm>
            <a:off x="1188719" y="3444240"/>
            <a:ext cx="10058400" cy="10972"/>
          </a:xfrm>
          <a:prstGeom prst="rect">
            <a:avLst/>
          </a:prstGeom>
          <a:solidFill>
            <a:srgbClr val="CCD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3316224"/>
            <a:ext cx="502920" cy="274320"/>
          </a:xfrm>
          <a:prstGeom prst="rect">
            <a:avLst/>
          </a:prstGeom>
          <a:noFill/>
        </p:spPr>
        <p:txBody>
          <a:bodyPr wrap="square" lIns="25400" tIns="25400" rIns="25400" bIns="25400" anchor="t">
            <a:spAutoFit/>
          </a:bodyPr>
          <a:lstStyle/>
          <a:p>
            <a:pPr algn="r">
              <a:lnSpc>
                <a:spcPct val="100000"/>
              </a:lnSpc>
              <a:spcAft>
                <a:spcPts val="400"/>
              </a:spcAft>
            </a:pPr>
            <a:r>
              <a:rPr sz="900" b="0">
                <a:solidFill>
                  <a:srgbClr val="5B6635"/>
                </a:solidFill>
                <a:latin typeface="Inter"/>
              </a:rPr>
              <a:t>40</a:t>
            </a:r>
          </a:p>
        </p:txBody>
      </p:sp>
      <p:sp>
        <p:nvSpPr>
          <p:cNvPr id="16" name="Rectangle 15"/>
          <p:cNvSpPr/>
          <p:nvPr/>
        </p:nvSpPr>
        <p:spPr>
          <a:xfrm>
            <a:off x="1188719" y="2468879"/>
            <a:ext cx="10058400" cy="10972"/>
          </a:xfrm>
          <a:prstGeom prst="rect">
            <a:avLst/>
          </a:prstGeom>
          <a:solidFill>
            <a:srgbClr val="CCD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2340863"/>
            <a:ext cx="502920" cy="274320"/>
          </a:xfrm>
          <a:prstGeom prst="rect">
            <a:avLst/>
          </a:prstGeom>
          <a:noFill/>
        </p:spPr>
        <p:txBody>
          <a:bodyPr wrap="square" lIns="25400" tIns="25400" rIns="25400" bIns="25400" anchor="t">
            <a:spAutoFit/>
          </a:bodyPr>
          <a:lstStyle/>
          <a:p>
            <a:pPr algn="r">
              <a:lnSpc>
                <a:spcPct val="100000"/>
              </a:lnSpc>
              <a:spcAft>
                <a:spcPts val="400"/>
              </a:spcAft>
            </a:pPr>
            <a:r>
              <a:rPr sz="900" b="0">
                <a:solidFill>
                  <a:srgbClr val="5B6635"/>
                </a:solidFill>
                <a:latin typeface="Inter"/>
              </a:rPr>
              <a:t>60</a:t>
            </a:r>
          </a:p>
        </p:txBody>
      </p:sp>
      <p:sp>
        <p:nvSpPr>
          <p:cNvPr id="18" name="Rectangle 17"/>
          <p:cNvSpPr/>
          <p:nvPr/>
        </p:nvSpPr>
        <p:spPr>
          <a:xfrm>
            <a:off x="1188719" y="2883408"/>
            <a:ext cx="10058400" cy="18288"/>
          </a:xfrm>
          <a:prstGeom prst="rect">
            <a:avLst/>
          </a:prstGeom>
          <a:solidFill>
            <a:srgbClr val="644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34439" y="2609088"/>
            <a:ext cx="1463040" cy="228600"/>
          </a:xfrm>
          <a:prstGeom prst="rect">
            <a:avLst/>
          </a:prstGeom>
          <a:noFill/>
        </p:spPr>
        <p:txBody>
          <a:bodyPr wrap="square" lIns="25400" tIns="25400" rIns="25400" bIns="25400" anchor="t">
            <a:spAutoFit/>
          </a:bodyPr>
          <a:lstStyle/>
          <a:p>
            <a:pPr algn="l">
              <a:lnSpc>
                <a:spcPct val="100000"/>
              </a:lnSpc>
              <a:spcAft>
                <a:spcPts val="400"/>
              </a:spcAft>
            </a:pPr>
            <a:r>
              <a:rPr sz="900" b="1">
                <a:solidFill>
                  <a:srgbClr val="64411F"/>
                </a:solidFill>
                <a:latin typeface="Inter"/>
              </a:rPr>
              <a:t>chance 51.5</a:t>
            </a:r>
          </a:p>
        </p:txBody>
      </p:sp>
      <p:sp>
        <p:nvSpPr>
          <p:cNvPr id="20" name="Rounded Rectangle 19"/>
          <p:cNvSpPr/>
          <p:nvPr/>
        </p:nvSpPr>
        <p:spPr>
          <a:xfrm>
            <a:off x="1412239" y="3663696"/>
            <a:ext cx="670560" cy="1731264"/>
          </a:xfrm>
          <a:prstGeom prst="roundRect">
            <a:avLst>
              <a:gd name="adj" fmla="val 12000"/>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75080" y="3444240"/>
            <a:ext cx="944880" cy="201168"/>
          </a:xfrm>
          <a:prstGeom prst="rect">
            <a:avLst/>
          </a:prstGeom>
          <a:noFill/>
        </p:spPr>
        <p:txBody>
          <a:bodyPr wrap="square" lIns="25400" tIns="25400" rIns="25400" bIns="25400" anchor="t">
            <a:spAutoFit/>
          </a:bodyPr>
          <a:lstStyle/>
          <a:p>
            <a:pPr algn="ctr">
              <a:lnSpc>
                <a:spcPct val="100000"/>
              </a:lnSpc>
              <a:spcAft>
                <a:spcPts val="400"/>
              </a:spcAft>
            </a:pPr>
            <a:r>
              <a:rPr sz="900" b="0">
                <a:solidFill>
                  <a:srgbClr val="2D331A"/>
                </a:solidFill>
                <a:latin typeface="Inter"/>
              </a:rPr>
              <a:t>36</a:t>
            </a:r>
          </a:p>
        </p:txBody>
      </p:sp>
      <p:sp>
        <p:nvSpPr>
          <p:cNvPr id="22" name="TextBox 21"/>
          <p:cNvSpPr txBox="1"/>
          <p:nvPr/>
        </p:nvSpPr>
        <p:spPr>
          <a:xfrm>
            <a:off x="1229360" y="5440680"/>
            <a:ext cx="1036320" cy="228600"/>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5B6635"/>
                </a:solidFill>
                <a:latin typeface="Inter"/>
              </a:rPr>
              <a:t>50–200</a:t>
            </a:r>
          </a:p>
        </p:txBody>
      </p:sp>
      <p:sp>
        <p:nvSpPr>
          <p:cNvPr id="23" name="Rounded Rectangle 22"/>
          <p:cNvSpPr/>
          <p:nvPr/>
        </p:nvSpPr>
        <p:spPr>
          <a:xfrm>
            <a:off x="2529840" y="4073347"/>
            <a:ext cx="670560" cy="1321612"/>
          </a:xfrm>
          <a:prstGeom prst="roundRect">
            <a:avLst>
              <a:gd name="adj" fmla="val 12000"/>
            </a:avLst>
          </a:prstGeom>
          <a:solidFill>
            <a:srgbClr val="5D5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392680" y="3853891"/>
            <a:ext cx="944880" cy="201168"/>
          </a:xfrm>
          <a:prstGeom prst="rect">
            <a:avLst/>
          </a:prstGeom>
          <a:noFill/>
        </p:spPr>
        <p:txBody>
          <a:bodyPr wrap="square" lIns="25400" tIns="25400" rIns="25400" bIns="25400" anchor="t">
            <a:spAutoFit/>
          </a:bodyPr>
          <a:lstStyle/>
          <a:p>
            <a:pPr algn="ctr">
              <a:lnSpc>
                <a:spcPct val="100000"/>
              </a:lnSpc>
              <a:spcAft>
                <a:spcPts val="400"/>
              </a:spcAft>
            </a:pPr>
            <a:r>
              <a:rPr sz="900" b="0">
                <a:solidFill>
                  <a:srgbClr val="2D331A"/>
                </a:solidFill>
                <a:latin typeface="Inter"/>
              </a:rPr>
              <a:t>27</a:t>
            </a:r>
          </a:p>
        </p:txBody>
      </p:sp>
      <p:sp>
        <p:nvSpPr>
          <p:cNvPr id="25" name="TextBox 24"/>
          <p:cNvSpPr txBox="1"/>
          <p:nvPr/>
        </p:nvSpPr>
        <p:spPr>
          <a:xfrm>
            <a:off x="2346960" y="5440680"/>
            <a:ext cx="1036320" cy="228600"/>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5B6635"/>
                </a:solidFill>
                <a:latin typeface="Inter"/>
              </a:rPr>
              <a:t>50–400</a:t>
            </a:r>
          </a:p>
        </p:txBody>
      </p:sp>
      <p:sp>
        <p:nvSpPr>
          <p:cNvPr id="26" name="Rounded Rectangle 25"/>
          <p:cNvSpPr/>
          <p:nvPr/>
        </p:nvSpPr>
        <p:spPr>
          <a:xfrm>
            <a:off x="3647440" y="3790492"/>
            <a:ext cx="670560" cy="1604467"/>
          </a:xfrm>
          <a:prstGeom prst="roundRect">
            <a:avLst>
              <a:gd name="adj" fmla="val 12000"/>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510280" y="3571036"/>
            <a:ext cx="944880" cy="201168"/>
          </a:xfrm>
          <a:prstGeom prst="rect">
            <a:avLst/>
          </a:prstGeom>
          <a:noFill/>
        </p:spPr>
        <p:txBody>
          <a:bodyPr wrap="square" lIns="25400" tIns="25400" rIns="25400" bIns="25400" anchor="t">
            <a:spAutoFit/>
          </a:bodyPr>
          <a:lstStyle/>
          <a:p>
            <a:pPr algn="ctr">
              <a:lnSpc>
                <a:spcPct val="100000"/>
              </a:lnSpc>
              <a:spcAft>
                <a:spcPts val="400"/>
              </a:spcAft>
            </a:pPr>
            <a:r>
              <a:rPr sz="900" b="0">
                <a:solidFill>
                  <a:srgbClr val="2D331A"/>
                </a:solidFill>
                <a:latin typeface="Inter"/>
              </a:rPr>
              <a:t>33</a:t>
            </a:r>
          </a:p>
        </p:txBody>
      </p:sp>
      <p:sp>
        <p:nvSpPr>
          <p:cNvPr id="28" name="TextBox 27"/>
          <p:cNvSpPr txBox="1"/>
          <p:nvPr/>
        </p:nvSpPr>
        <p:spPr>
          <a:xfrm>
            <a:off x="3464560" y="5440680"/>
            <a:ext cx="1036320" cy="228600"/>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5B6635"/>
                </a:solidFill>
                <a:latin typeface="Inter"/>
              </a:rPr>
              <a:t>200–500</a:t>
            </a:r>
          </a:p>
        </p:txBody>
      </p:sp>
      <p:sp>
        <p:nvSpPr>
          <p:cNvPr id="29" name="Rounded Rectangle 28"/>
          <p:cNvSpPr/>
          <p:nvPr/>
        </p:nvSpPr>
        <p:spPr>
          <a:xfrm>
            <a:off x="4765040" y="3156508"/>
            <a:ext cx="670560" cy="2238451"/>
          </a:xfrm>
          <a:prstGeom prst="roundRect">
            <a:avLst>
              <a:gd name="adj" fmla="val 12000"/>
            </a:avLst>
          </a:prstGeom>
          <a:solidFill>
            <a:srgbClr val="ACB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627880" y="2937052"/>
            <a:ext cx="944880" cy="201168"/>
          </a:xfrm>
          <a:prstGeom prst="rect">
            <a:avLst/>
          </a:prstGeom>
          <a:noFill/>
        </p:spPr>
        <p:txBody>
          <a:bodyPr wrap="square" lIns="25400" tIns="25400" rIns="25400" bIns="25400" anchor="t">
            <a:spAutoFit/>
          </a:bodyPr>
          <a:lstStyle/>
          <a:p>
            <a:pPr algn="ctr">
              <a:lnSpc>
                <a:spcPct val="100000"/>
              </a:lnSpc>
              <a:spcAft>
                <a:spcPts val="400"/>
              </a:spcAft>
            </a:pPr>
            <a:r>
              <a:rPr sz="900" b="0">
                <a:solidFill>
                  <a:srgbClr val="2D331A"/>
                </a:solidFill>
                <a:latin typeface="Inter"/>
              </a:rPr>
              <a:t>46</a:t>
            </a:r>
          </a:p>
        </p:txBody>
      </p:sp>
      <p:sp>
        <p:nvSpPr>
          <p:cNvPr id="31" name="TextBox 30"/>
          <p:cNvSpPr txBox="1"/>
          <p:nvPr/>
        </p:nvSpPr>
        <p:spPr>
          <a:xfrm>
            <a:off x="4582160" y="5440680"/>
            <a:ext cx="1036320" cy="228600"/>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5B6635"/>
                </a:solidFill>
                <a:latin typeface="Inter"/>
              </a:rPr>
              <a:t>480–830</a:t>
            </a:r>
          </a:p>
        </p:txBody>
      </p:sp>
      <p:sp>
        <p:nvSpPr>
          <p:cNvPr id="32" name="Rounded Rectangle 31"/>
          <p:cNvSpPr/>
          <p:nvPr/>
        </p:nvSpPr>
        <p:spPr>
          <a:xfrm>
            <a:off x="5882640" y="3039465"/>
            <a:ext cx="670560" cy="2355494"/>
          </a:xfrm>
          <a:prstGeom prst="roundRect">
            <a:avLst>
              <a:gd name="adj" fmla="val 12000"/>
            </a:avLst>
          </a:prstGeom>
          <a:solidFill>
            <a:srgbClr val="ACB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745480" y="2820009"/>
            <a:ext cx="944880" cy="201168"/>
          </a:xfrm>
          <a:prstGeom prst="rect">
            <a:avLst/>
          </a:prstGeom>
          <a:noFill/>
        </p:spPr>
        <p:txBody>
          <a:bodyPr wrap="square" lIns="25400" tIns="25400" rIns="25400" bIns="25400" anchor="t">
            <a:spAutoFit/>
          </a:bodyPr>
          <a:lstStyle/>
          <a:p>
            <a:pPr algn="ctr">
              <a:lnSpc>
                <a:spcPct val="100000"/>
              </a:lnSpc>
              <a:spcAft>
                <a:spcPts val="400"/>
              </a:spcAft>
            </a:pPr>
            <a:r>
              <a:rPr sz="900" b="0">
                <a:solidFill>
                  <a:srgbClr val="2D331A"/>
                </a:solidFill>
                <a:latin typeface="Inter"/>
              </a:rPr>
              <a:t>48</a:t>
            </a:r>
          </a:p>
        </p:txBody>
      </p:sp>
      <p:sp>
        <p:nvSpPr>
          <p:cNvPr id="34" name="TextBox 33"/>
          <p:cNvSpPr txBox="1"/>
          <p:nvPr/>
        </p:nvSpPr>
        <p:spPr>
          <a:xfrm>
            <a:off x="5699760" y="5440680"/>
            <a:ext cx="1036320" cy="228600"/>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5B6635"/>
                </a:solidFill>
                <a:latin typeface="Inter"/>
              </a:rPr>
              <a:t>910–1260</a:t>
            </a:r>
          </a:p>
        </p:txBody>
      </p:sp>
      <p:sp>
        <p:nvSpPr>
          <p:cNvPr id="35" name="Rounded Rectangle 34"/>
          <p:cNvSpPr/>
          <p:nvPr/>
        </p:nvSpPr>
        <p:spPr>
          <a:xfrm>
            <a:off x="7000240" y="2849270"/>
            <a:ext cx="670560" cy="2545689"/>
          </a:xfrm>
          <a:prstGeom prst="roundRect">
            <a:avLst>
              <a:gd name="adj" fmla="val 12000"/>
            </a:avLst>
          </a:prstGeom>
          <a:solidFill>
            <a:srgbClr val="ACB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863080" y="2629814"/>
            <a:ext cx="944880" cy="201168"/>
          </a:xfrm>
          <a:prstGeom prst="rect">
            <a:avLst/>
          </a:prstGeom>
          <a:noFill/>
        </p:spPr>
        <p:txBody>
          <a:bodyPr wrap="square" lIns="25400" tIns="25400" rIns="25400" bIns="25400" anchor="t">
            <a:spAutoFit/>
          </a:bodyPr>
          <a:lstStyle/>
          <a:p>
            <a:pPr algn="ctr">
              <a:lnSpc>
                <a:spcPct val="100000"/>
              </a:lnSpc>
              <a:spcAft>
                <a:spcPts val="400"/>
              </a:spcAft>
            </a:pPr>
            <a:r>
              <a:rPr sz="900" b="0">
                <a:solidFill>
                  <a:srgbClr val="2D331A"/>
                </a:solidFill>
                <a:latin typeface="Inter"/>
              </a:rPr>
              <a:t>52</a:t>
            </a:r>
          </a:p>
        </p:txBody>
      </p:sp>
      <p:sp>
        <p:nvSpPr>
          <p:cNvPr id="37" name="TextBox 36"/>
          <p:cNvSpPr txBox="1"/>
          <p:nvPr/>
        </p:nvSpPr>
        <p:spPr>
          <a:xfrm>
            <a:off x="6817360" y="5440680"/>
            <a:ext cx="1036320" cy="228600"/>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5B6635"/>
                </a:solidFill>
                <a:latin typeface="Inter"/>
              </a:rPr>
              <a:t>1340–1690</a:t>
            </a:r>
          </a:p>
        </p:txBody>
      </p:sp>
      <p:sp>
        <p:nvSpPr>
          <p:cNvPr id="38" name="Rounded Rectangle 37"/>
          <p:cNvSpPr/>
          <p:nvPr/>
        </p:nvSpPr>
        <p:spPr>
          <a:xfrm>
            <a:off x="8117839" y="2898038"/>
            <a:ext cx="670560" cy="2496921"/>
          </a:xfrm>
          <a:prstGeom prst="roundRect">
            <a:avLst>
              <a:gd name="adj" fmla="val 12000"/>
            </a:avLst>
          </a:prstGeom>
          <a:solidFill>
            <a:srgbClr val="ACB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980679" y="2678582"/>
            <a:ext cx="944880" cy="201168"/>
          </a:xfrm>
          <a:prstGeom prst="rect">
            <a:avLst/>
          </a:prstGeom>
          <a:noFill/>
        </p:spPr>
        <p:txBody>
          <a:bodyPr wrap="square" lIns="25400" tIns="25400" rIns="25400" bIns="25400" anchor="t">
            <a:spAutoFit/>
          </a:bodyPr>
          <a:lstStyle/>
          <a:p>
            <a:pPr algn="ctr">
              <a:lnSpc>
                <a:spcPct val="100000"/>
              </a:lnSpc>
              <a:spcAft>
                <a:spcPts val="400"/>
              </a:spcAft>
            </a:pPr>
            <a:r>
              <a:rPr sz="900" b="0">
                <a:solidFill>
                  <a:srgbClr val="2D331A"/>
                </a:solidFill>
                <a:latin typeface="Inter"/>
              </a:rPr>
              <a:t>51</a:t>
            </a:r>
          </a:p>
        </p:txBody>
      </p:sp>
      <p:sp>
        <p:nvSpPr>
          <p:cNvPr id="40" name="TextBox 39"/>
          <p:cNvSpPr txBox="1"/>
          <p:nvPr/>
        </p:nvSpPr>
        <p:spPr>
          <a:xfrm>
            <a:off x="7934959" y="5440680"/>
            <a:ext cx="1036320" cy="228600"/>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5B6635"/>
                </a:solidFill>
                <a:latin typeface="Inter"/>
              </a:rPr>
              <a:t>1760–2110</a:t>
            </a:r>
          </a:p>
        </p:txBody>
      </p:sp>
      <p:sp>
        <p:nvSpPr>
          <p:cNvPr id="41" name="Rounded Rectangle 40"/>
          <p:cNvSpPr/>
          <p:nvPr/>
        </p:nvSpPr>
        <p:spPr>
          <a:xfrm>
            <a:off x="9235440" y="2907792"/>
            <a:ext cx="670560" cy="2487168"/>
          </a:xfrm>
          <a:prstGeom prst="roundRect">
            <a:avLst>
              <a:gd name="adj" fmla="val 12000"/>
            </a:avLst>
          </a:prstGeom>
          <a:solidFill>
            <a:srgbClr val="ACB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098280" y="2688336"/>
            <a:ext cx="944880" cy="201168"/>
          </a:xfrm>
          <a:prstGeom prst="rect">
            <a:avLst/>
          </a:prstGeom>
          <a:noFill/>
        </p:spPr>
        <p:txBody>
          <a:bodyPr wrap="square" lIns="25400" tIns="25400" rIns="25400" bIns="25400" anchor="t">
            <a:spAutoFit/>
          </a:bodyPr>
          <a:lstStyle/>
          <a:p>
            <a:pPr algn="ctr">
              <a:lnSpc>
                <a:spcPct val="100000"/>
              </a:lnSpc>
              <a:spcAft>
                <a:spcPts val="400"/>
              </a:spcAft>
            </a:pPr>
            <a:r>
              <a:rPr sz="900" b="0">
                <a:solidFill>
                  <a:srgbClr val="2D331A"/>
                </a:solidFill>
                <a:latin typeface="Inter"/>
              </a:rPr>
              <a:t>51</a:t>
            </a:r>
          </a:p>
        </p:txBody>
      </p:sp>
      <p:sp>
        <p:nvSpPr>
          <p:cNvPr id="43" name="TextBox 42"/>
          <p:cNvSpPr txBox="1"/>
          <p:nvPr/>
        </p:nvSpPr>
        <p:spPr>
          <a:xfrm>
            <a:off x="9052560" y="5440680"/>
            <a:ext cx="1036320" cy="228600"/>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5B6635"/>
                </a:solidFill>
                <a:latin typeface="Inter"/>
              </a:rPr>
              <a:t>2190–2540</a:t>
            </a:r>
          </a:p>
        </p:txBody>
      </p:sp>
      <p:sp>
        <p:nvSpPr>
          <p:cNvPr id="44" name="Rounded Rectangle 43"/>
          <p:cNvSpPr/>
          <p:nvPr/>
        </p:nvSpPr>
        <p:spPr>
          <a:xfrm>
            <a:off x="10353040" y="2951683"/>
            <a:ext cx="670560" cy="2443276"/>
          </a:xfrm>
          <a:prstGeom prst="roundRect">
            <a:avLst>
              <a:gd name="adj" fmla="val 12000"/>
            </a:avLst>
          </a:prstGeom>
          <a:solidFill>
            <a:srgbClr val="ACB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215880" y="2732227"/>
            <a:ext cx="944880" cy="201168"/>
          </a:xfrm>
          <a:prstGeom prst="rect">
            <a:avLst/>
          </a:prstGeom>
          <a:noFill/>
        </p:spPr>
        <p:txBody>
          <a:bodyPr wrap="square" lIns="25400" tIns="25400" rIns="25400" bIns="25400" anchor="t">
            <a:spAutoFit/>
          </a:bodyPr>
          <a:lstStyle/>
          <a:p>
            <a:pPr algn="ctr">
              <a:lnSpc>
                <a:spcPct val="100000"/>
              </a:lnSpc>
              <a:spcAft>
                <a:spcPts val="400"/>
              </a:spcAft>
            </a:pPr>
            <a:r>
              <a:rPr sz="900" b="0">
                <a:solidFill>
                  <a:srgbClr val="2D331A"/>
                </a:solidFill>
                <a:latin typeface="Inter"/>
              </a:rPr>
              <a:t>50</a:t>
            </a:r>
          </a:p>
        </p:txBody>
      </p:sp>
      <p:sp>
        <p:nvSpPr>
          <p:cNvPr id="46" name="TextBox 45"/>
          <p:cNvSpPr txBox="1"/>
          <p:nvPr/>
        </p:nvSpPr>
        <p:spPr>
          <a:xfrm>
            <a:off x="10170160" y="5440680"/>
            <a:ext cx="1036320" cy="228600"/>
          </a:xfrm>
          <a:prstGeom prst="rect">
            <a:avLst/>
          </a:prstGeom>
          <a:noFill/>
        </p:spPr>
        <p:txBody>
          <a:bodyPr wrap="square" lIns="25400" tIns="25400" rIns="25400" bIns="25400" anchor="t">
            <a:spAutoFit/>
          </a:bodyPr>
          <a:lstStyle/>
          <a:p>
            <a:pPr algn="ctr">
              <a:lnSpc>
                <a:spcPct val="100000"/>
              </a:lnSpc>
              <a:spcAft>
                <a:spcPts val="400"/>
              </a:spcAft>
            </a:pPr>
            <a:r>
              <a:rPr sz="850" b="0">
                <a:solidFill>
                  <a:srgbClr val="5B6635"/>
                </a:solidFill>
                <a:latin typeface="Inter"/>
              </a:rPr>
              <a:t>2620–2970</a:t>
            </a:r>
          </a:p>
        </p:txBody>
      </p:sp>
      <p:sp>
        <p:nvSpPr>
          <p:cNvPr id="47" name="TextBox 46"/>
          <p:cNvSpPr txBox="1"/>
          <p:nvPr/>
        </p:nvSpPr>
        <p:spPr>
          <a:xfrm>
            <a:off x="4251959" y="5897880"/>
            <a:ext cx="3657600" cy="228600"/>
          </a:xfrm>
          <a:prstGeom prst="rect">
            <a:avLst/>
          </a:prstGeom>
          <a:noFill/>
        </p:spPr>
        <p:txBody>
          <a:bodyPr wrap="square" lIns="25400" tIns="25400" rIns="25400" bIns="25400" anchor="t">
            <a:spAutoFit/>
          </a:bodyPr>
          <a:lstStyle/>
          <a:p>
            <a:pPr algn="ctr">
              <a:lnSpc>
                <a:spcPct val="100000"/>
              </a:lnSpc>
              <a:spcAft>
                <a:spcPts val="400"/>
              </a:spcAft>
            </a:pPr>
            <a:r>
              <a:rPr sz="1000" b="0">
                <a:solidFill>
                  <a:srgbClr val="5B6635"/>
                </a:solidFill>
                <a:latin typeface="Inter"/>
              </a:rPr>
              <a:t>window after clip onset (ms)</a:t>
            </a:r>
          </a:p>
        </p:txBody>
      </p:sp>
      <p:sp>
        <p:nvSpPr>
          <p:cNvPr id="48" name="TextBox 47"/>
          <p:cNvSpPr txBox="1"/>
          <p:nvPr/>
        </p:nvSpPr>
        <p:spPr>
          <a:xfrm>
            <a:off x="548640" y="6428232"/>
            <a:ext cx="8229600" cy="320040"/>
          </a:xfrm>
          <a:prstGeom prst="rect">
            <a:avLst/>
          </a:prstGeom>
          <a:noFill/>
        </p:spPr>
        <p:txBody>
          <a:bodyPr wrap="square" lIns="25400" tIns="25400" rIns="25400" bIns="25400" anchor="t">
            <a:spAutoFit/>
          </a:bodyPr>
          <a:lstStyle/>
          <a:p>
            <a:pPr algn="l">
              <a:lnSpc>
                <a:spcPct val="100000"/>
              </a:lnSpc>
              <a:spcAft>
                <a:spcPts val="400"/>
              </a:spcAft>
            </a:pPr>
            <a:r>
              <a:rPr sz="850" b="1">
                <a:solidFill>
                  <a:srgbClr val="5B6635"/>
                </a:solidFill>
                <a:latin typeface="Inter"/>
              </a:rPr>
              <a:t>NEUROBYTES · EEG-TO-VIDEO RETRIEVAL</a:t>
            </a:r>
          </a:p>
        </p:txBody>
      </p:sp>
      <p:sp>
        <p:nvSpPr>
          <p:cNvPr id="49" name="TextBox 48"/>
          <p:cNvSpPr txBox="1"/>
          <p:nvPr/>
        </p:nvSpPr>
        <p:spPr>
          <a:xfrm>
            <a:off x="10881360" y="6428232"/>
            <a:ext cx="822960" cy="320040"/>
          </a:xfrm>
          <a:prstGeom prst="rect">
            <a:avLst/>
          </a:prstGeom>
          <a:noFill/>
        </p:spPr>
        <p:txBody>
          <a:bodyPr wrap="square" lIns="25400" tIns="25400" rIns="25400" bIns="25400" anchor="t">
            <a:spAutoFit/>
          </a:bodyPr>
          <a:lstStyle/>
          <a:p>
            <a:pPr algn="r">
              <a:lnSpc>
                <a:spcPct val="100000"/>
              </a:lnSpc>
              <a:spcAft>
                <a:spcPts val="400"/>
              </a:spcAft>
            </a:pPr>
            <a:r>
              <a:rPr sz="900" b="1">
                <a:solidFill>
                  <a:srgbClr val="5B6635"/>
                </a:solidFill>
                <a:latin typeface="Inter"/>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EF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8503920" y="-1280160"/>
            <a:ext cx="5029200" cy="3657600"/>
          </a:xfrm>
          <a:prstGeom prst="roundRect">
            <a:avLst>
              <a:gd name="adj" fmla="val 50000"/>
            </a:avLst>
          </a:prstGeom>
          <a:solidFill>
            <a:srgbClr val="F3EB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463040" y="1463040"/>
            <a:ext cx="4206240" cy="3291840"/>
          </a:xfrm>
          <a:prstGeom prst="roundRect">
            <a:avLst>
              <a:gd name="adj" fmla="val 50000"/>
            </a:avLst>
          </a:prstGeom>
          <a:solidFill>
            <a:srgbClr val="EEE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603504"/>
            <a:ext cx="384048" cy="25603"/>
          </a:xfrm>
          <a:prstGeom prst="rect">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502920"/>
            <a:ext cx="7315200" cy="320040"/>
          </a:xfrm>
          <a:prstGeom prst="rect">
            <a:avLst/>
          </a:prstGeom>
          <a:noFill/>
        </p:spPr>
        <p:txBody>
          <a:bodyPr wrap="square" lIns="25400" tIns="25400" rIns="25400" bIns="25400" anchor="t">
            <a:spAutoFit/>
          </a:bodyPr>
          <a:lstStyle/>
          <a:p>
            <a:pPr algn="l">
              <a:lnSpc>
                <a:spcPct val="100000"/>
              </a:lnSpc>
              <a:spcAft>
                <a:spcPts val="400"/>
              </a:spcAft>
            </a:pPr>
            <a:r>
              <a:rPr sz="1150" b="1">
                <a:solidFill>
                  <a:srgbClr val="5B6635"/>
                </a:solidFill>
                <a:latin typeface="Inter"/>
              </a:rPr>
              <a:t>WHY IT WORKS</a:t>
            </a:r>
          </a:p>
        </p:txBody>
      </p:sp>
      <p:sp>
        <p:nvSpPr>
          <p:cNvPr id="7" name="TextBox 6"/>
          <p:cNvSpPr txBox="1"/>
          <p:nvPr/>
        </p:nvSpPr>
        <p:spPr>
          <a:xfrm>
            <a:off x="548640" y="841248"/>
            <a:ext cx="11064240" cy="731520"/>
          </a:xfrm>
          <a:prstGeom prst="rect">
            <a:avLst/>
          </a:prstGeom>
          <a:noFill/>
        </p:spPr>
        <p:txBody>
          <a:bodyPr wrap="square" lIns="25400" tIns="25400" rIns="25400" bIns="25400" anchor="t">
            <a:spAutoFit/>
          </a:bodyPr>
          <a:lstStyle/>
          <a:p>
            <a:pPr algn="l">
              <a:lnSpc>
                <a:spcPct val="95000"/>
              </a:lnSpc>
              <a:spcAft>
                <a:spcPts val="0"/>
              </a:spcAft>
            </a:pPr>
            <a:r>
              <a:rPr sz="3000" b="0">
                <a:solidFill>
                  <a:srgbClr val="2D331A"/>
                </a:solidFill>
                <a:latin typeface="Inter"/>
              </a:rPr>
              <a:t>What the brain signal can and </a:t>
            </a:r>
            <a:r>
              <a:rPr sz="3000" b="0">
                <a:solidFill>
                  <a:srgbClr val="5B6635"/>
                </a:solidFill>
                <a:latin typeface="Inter"/>
              </a:rPr>
              <a:t>cannot tell us</a:t>
            </a:r>
          </a:p>
        </p:txBody>
      </p:sp>
      <p:sp>
        <p:nvSpPr>
          <p:cNvPr id="8" name="Rounded Rectangle 7"/>
          <p:cNvSpPr/>
          <p:nvPr/>
        </p:nvSpPr>
        <p:spPr>
          <a:xfrm>
            <a:off x="548640" y="1691640"/>
            <a:ext cx="3538728" cy="2057400"/>
          </a:xfrm>
          <a:prstGeom prst="roundRect">
            <a:avLst>
              <a:gd name="adj" fmla="val 8000"/>
            </a:avLst>
          </a:prstGeom>
          <a:solidFill>
            <a:srgbClr val="FFFDF3"/>
          </a:solidFill>
          <a:ln w="12700">
            <a:solidFill>
              <a:srgbClr val="CCD5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691640"/>
            <a:ext cx="91440" cy="2057400"/>
          </a:xfrm>
          <a:prstGeom prst="rect">
            <a:avLst/>
          </a:prstGeom>
          <a:solidFill>
            <a:srgbClr val="533E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856232"/>
            <a:ext cx="3081528" cy="457200"/>
          </a:xfrm>
          <a:prstGeom prst="rect">
            <a:avLst/>
          </a:prstGeom>
          <a:noFill/>
        </p:spPr>
        <p:txBody>
          <a:bodyPr wrap="square" lIns="25400" tIns="25400" rIns="25400" bIns="25400" anchor="t">
            <a:spAutoFit/>
          </a:bodyPr>
          <a:lstStyle/>
          <a:p>
            <a:pPr algn="l">
              <a:lnSpc>
                <a:spcPct val="100000"/>
              </a:lnSpc>
              <a:spcAft>
                <a:spcPts val="400"/>
              </a:spcAft>
            </a:pPr>
            <a:r>
              <a:rPr sz="2000" b="0">
                <a:solidFill>
                  <a:srgbClr val="533E08"/>
                </a:solidFill>
                <a:latin typeface="Inter"/>
              </a:rPr>
              <a:t>800 ms</a:t>
            </a:r>
          </a:p>
        </p:txBody>
      </p:sp>
      <p:sp>
        <p:nvSpPr>
          <p:cNvPr id="11" name="TextBox 10"/>
          <p:cNvSpPr txBox="1"/>
          <p:nvPr/>
        </p:nvSpPr>
        <p:spPr>
          <a:xfrm>
            <a:off x="804672" y="2350008"/>
            <a:ext cx="3081528" cy="1325880"/>
          </a:xfrm>
          <a:prstGeom prst="rect">
            <a:avLst/>
          </a:prstGeom>
          <a:noFill/>
        </p:spPr>
        <p:txBody>
          <a:bodyPr wrap="square" lIns="25400" tIns="25400" rIns="25400" bIns="25400" anchor="t">
            <a:spAutoFit/>
          </a:bodyPr>
          <a:lstStyle/>
          <a:p>
            <a:pPr algn="l">
              <a:lnSpc>
                <a:spcPct val="108000"/>
              </a:lnSpc>
              <a:spcAft>
                <a:spcPts val="600"/>
              </a:spcAft>
            </a:pPr>
            <a:r>
              <a:rPr sz="1350" b="0">
                <a:solidFill>
                  <a:srgbClr val="2D331A"/>
                </a:solidFill>
                <a:latin typeface="Inter"/>
              </a:rPr>
              <a:t>The decodable signal is the onset response</a:t>
            </a:r>
          </a:p>
          <a:p>
            <a:pPr algn="l">
              <a:lnSpc>
                <a:spcPct val="108000"/>
              </a:lnSpc>
              <a:spcAft>
                <a:spcPts val="600"/>
              </a:spcAft>
            </a:pPr>
            <a:r>
              <a:rPr sz="1050" b="0">
                <a:solidFill>
                  <a:srgbClr val="5B6635"/>
                </a:solidFill>
                <a:latin typeface="Inter"/>
              </a:rPr>
              <a:t>Decoding is strongest 50–400 ms after the clip starts, the visual P1/N1 window. Every window after ~800 ms is at chance.</a:t>
            </a:r>
          </a:p>
        </p:txBody>
      </p:sp>
      <p:sp>
        <p:nvSpPr>
          <p:cNvPr id="12" name="Rounded Rectangle 11"/>
          <p:cNvSpPr/>
          <p:nvPr/>
        </p:nvSpPr>
        <p:spPr>
          <a:xfrm>
            <a:off x="4242816" y="1691640"/>
            <a:ext cx="3538728" cy="2057400"/>
          </a:xfrm>
          <a:prstGeom prst="roundRect">
            <a:avLst>
              <a:gd name="adj" fmla="val 8000"/>
            </a:avLst>
          </a:prstGeom>
          <a:solidFill>
            <a:srgbClr val="FFFDF3"/>
          </a:solidFill>
          <a:ln w="12700">
            <a:solidFill>
              <a:srgbClr val="CCD5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42816" y="1691640"/>
            <a:ext cx="91440" cy="2057400"/>
          </a:xfrm>
          <a:prstGeom prst="rect">
            <a:avLst/>
          </a:prstGeom>
          <a:solidFill>
            <a:srgbClr val="5D51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98848" y="1856232"/>
            <a:ext cx="3081528" cy="457200"/>
          </a:xfrm>
          <a:prstGeom prst="rect">
            <a:avLst/>
          </a:prstGeom>
          <a:noFill/>
        </p:spPr>
        <p:txBody>
          <a:bodyPr wrap="square" lIns="25400" tIns="25400" rIns="25400" bIns="25400" anchor="t">
            <a:spAutoFit/>
          </a:bodyPr>
          <a:lstStyle/>
          <a:p>
            <a:pPr algn="l">
              <a:lnSpc>
                <a:spcPct val="100000"/>
              </a:lnSpc>
              <a:spcAft>
                <a:spcPts val="400"/>
              </a:spcAft>
            </a:pPr>
            <a:r>
              <a:rPr sz="2000" b="0">
                <a:solidFill>
                  <a:srgbClr val="5D5103"/>
                </a:solidFill>
                <a:latin typeface="Inter"/>
              </a:rPr>
              <a:t>CSLS</a:t>
            </a:r>
          </a:p>
        </p:txBody>
      </p:sp>
      <p:sp>
        <p:nvSpPr>
          <p:cNvPr id="15" name="TextBox 14"/>
          <p:cNvSpPr txBox="1"/>
          <p:nvPr/>
        </p:nvSpPr>
        <p:spPr>
          <a:xfrm>
            <a:off x="4498848" y="2350008"/>
            <a:ext cx="3081528" cy="1325880"/>
          </a:xfrm>
          <a:prstGeom prst="rect">
            <a:avLst/>
          </a:prstGeom>
          <a:noFill/>
        </p:spPr>
        <p:txBody>
          <a:bodyPr wrap="square" lIns="25400" tIns="25400" rIns="25400" bIns="25400" anchor="t">
            <a:spAutoFit/>
          </a:bodyPr>
          <a:lstStyle/>
          <a:p>
            <a:pPr algn="l">
              <a:lnSpc>
                <a:spcPct val="108000"/>
              </a:lnSpc>
              <a:spcAft>
                <a:spcPts val="600"/>
              </a:spcAft>
            </a:pPr>
            <a:r>
              <a:rPr sz="1350" b="0">
                <a:solidFill>
                  <a:srgbClr val="2D331A"/>
                </a:solidFill>
                <a:latin typeface="Inter"/>
              </a:rPr>
              <a:t>Hubs and balance</a:t>
            </a:r>
          </a:p>
          <a:p>
            <a:pPr algn="l">
              <a:lnSpc>
                <a:spcPct val="108000"/>
              </a:lnSpc>
              <a:spcAft>
                <a:spcPts val="600"/>
              </a:spcAft>
            </a:pPr>
            <a:r>
              <a:rPr sz="1050" b="0">
                <a:solidFill>
                  <a:srgbClr val="5B6635"/>
                </a:solidFill>
                <a:latin typeface="Inter"/>
              </a:rPr>
              <a:t>CSLS removes each candidate's average pull; Sinkhorn makes every video win about once across the 102 recordings. Together ≈6 points of top-1.</a:t>
            </a:r>
          </a:p>
        </p:txBody>
      </p:sp>
      <p:sp>
        <p:nvSpPr>
          <p:cNvPr id="16" name="Rounded Rectangle 15"/>
          <p:cNvSpPr/>
          <p:nvPr/>
        </p:nvSpPr>
        <p:spPr>
          <a:xfrm>
            <a:off x="7936992" y="1691640"/>
            <a:ext cx="3538728" cy="2057400"/>
          </a:xfrm>
          <a:prstGeom prst="roundRect">
            <a:avLst>
              <a:gd name="adj" fmla="val 8000"/>
            </a:avLst>
          </a:prstGeom>
          <a:solidFill>
            <a:srgbClr val="FFFDF3"/>
          </a:solidFill>
          <a:ln w="12700">
            <a:solidFill>
              <a:srgbClr val="CCD5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936992" y="1691640"/>
            <a:ext cx="91440" cy="2057400"/>
          </a:xfrm>
          <a:prstGeom prst="rect">
            <a:avLst/>
          </a:prstGeom>
          <a:solidFill>
            <a:srgbClr val="5B66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93023" y="1856232"/>
            <a:ext cx="3081528" cy="457200"/>
          </a:xfrm>
          <a:prstGeom prst="rect">
            <a:avLst/>
          </a:prstGeom>
          <a:noFill/>
        </p:spPr>
        <p:txBody>
          <a:bodyPr wrap="square" lIns="25400" tIns="25400" rIns="25400" bIns="25400" anchor="t">
            <a:spAutoFit/>
          </a:bodyPr>
          <a:lstStyle/>
          <a:p>
            <a:pPr algn="l">
              <a:lnSpc>
                <a:spcPct val="100000"/>
              </a:lnSpc>
              <a:spcAft>
                <a:spcPts val="400"/>
              </a:spcAft>
            </a:pPr>
            <a:r>
              <a:rPr sz="2000" b="0">
                <a:solidFill>
                  <a:srgbClr val="5B6635"/>
                </a:solidFill>
                <a:latin typeface="Inter"/>
              </a:rPr>
              <a:t>6 brains</a:t>
            </a:r>
          </a:p>
        </p:txBody>
      </p:sp>
      <p:sp>
        <p:nvSpPr>
          <p:cNvPr id="19" name="TextBox 18"/>
          <p:cNvSpPr txBox="1"/>
          <p:nvPr/>
        </p:nvSpPr>
        <p:spPr>
          <a:xfrm>
            <a:off x="8193023" y="2350008"/>
            <a:ext cx="3081528" cy="1325880"/>
          </a:xfrm>
          <a:prstGeom prst="rect">
            <a:avLst/>
          </a:prstGeom>
          <a:noFill/>
        </p:spPr>
        <p:txBody>
          <a:bodyPr wrap="square" lIns="25400" tIns="25400" rIns="25400" bIns="25400" anchor="t">
            <a:spAutoFit/>
          </a:bodyPr>
          <a:lstStyle/>
          <a:p>
            <a:pPr algn="l">
              <a:lnSpc>
                <a:spcPct val="108000"/>
              </a:lnSpc>
              <a:spcAft>
                <a:spcPts val="600"/>
              </a:spcAft>
            </a:pPr>
            <a:r>
              <a:rPr sz="1350" b="0">
                <a:solidFill>
                  <a:srgbClr val="2D331A"/>
                </a:solidFill>
                <a:latin typeface="Inter"/>
              </a:rPr>
              <a:t>Learning across people needs alignment</a:t>
            </a:r>
          </a:p>
          <a:p>
            <a:pPr algn="l">
              <a:lnSpc>
                <a:spcPct val="108000"/>
              </a:lnSpc>
              <a:spcAft>
                <a:spcPts val="600"/>
              </a:spcAft>
            </a:pPr>
            <a:r>
              <a:rPr sz="1050" b="0">
                <a:solidFill>
                  <a:srgbClr val="5B6635"/>
                </a:solidFill>
                <a:latin typeface="Inter"/>
              </a:rPr>
              <a:t>The 17 channels mix brain sources differently in every head. A per-person spatial map lets each person borrow the others' recordings.</a:t>
            </a:r>
          </a:p>
        </p:txBody>
      </p:sp>
      <p:sp>
        <p:nvSpPr>
          <p:cNvPr id="20" name="Rounded Rectangle 19"/>
          <p:cNvSpPr/>
          <p:nvPr/>
        </p:nvSpPr>
        <p:spPr>
          <a:xfrm>
            <a:off x="548640" y="3904487"/>
            <a:ext cx="3538728" cy="2057400"/>
          </a:xfrm>
          <a:prstGeom prst="roundRect">
            <a:avLst>
              <a:gd name="adj" fmla="val 8000"/>
            </a:avLst>
          </a:prstGeom>
          <a:solidFill>
            <a:srgbClr val="FFFDF3"/>
          </a:solidFill>
          <a:ln w="12700">
            <a:solidFill>
              <a:srgbClr val="CCD5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48640" y="3904487"/>
            <a:ext cx="91440" cy="2057400"/>
          </a:xfrm>
          <a:prstGeom prst="rect">
            <a:avLst/>
          </a:prstGeom>
          <a:solidFill>
            <a:srgbClr val="966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4672" y="4069079"/>
            <a:ext cx="3081528" cy="457200"/>
          </a:xfrm>
          <a:prstGeom prst="rect">
            <a:avLst/>
          </a:prstGeom>
          <a:noFill/>
        </p:spPr>
        <p:txBody>
          <a:bodyPr wrap="square" lIns="25400" tIns="25400" rIns="25400" bIns="25400" anchor="t">
            <a:spAutoFit/>
          </a:bodyPr>
          <a:lstStyle/>
          <a:p>
            <a:pPr algn="l">
              <a:lnSpc>
                <a:spcPct val="100000"/>
              </a:lnSpc>
              <a:spcAft>
                <a:spcPts val="400"/>
              </a:spcAft>
            </a:pPr>
            <a:r>
              <a:rPr sz="2000" b="0">
                <a:solidFill>
                  <a:srgbClr val="96622E"/>
                </a:solidFill>
                <a:latin typeface="Inter"/>
              </a:rPr>
              <a:t>V-JEPA 2</a:t>
            </a:r>
          </a:p>
        </p:txBody>
      </p:sp>
      <p:sp>
        <p:nvSpPr>
          <p:cNvPr id="23" name="TextBox 22"/>
          <p:cNvSpPr txBox="1"/>
          <p:nvPr/>
        </p:nvSpPr>
        <p:spPr>
          <a:xfrm>
            <a:off x="804672" y="4562855"/>
            <a:ext cx="3081528" cy="1325880"/>
          </a:xfrm>
          <a:prstGeom prst="rect">
            <a:avLst/>
          </a:prstGeom>
          <a:noFill/>
        </p:spPr>
        <p:txBody>
          <a:bodyPr wrap="square" lIns="25400" tIns="25400" rIns="25400" bIns="25400" anchor="t">
            <a:spAutoFit/>
          </a:bodyPr>
          <a:lstStyle/>
          <a:p>
            <a:pPr algn="l">
              <a:lnSpc>
                <a:spcPct val="108000"/>
              </a:lnSpc>
              <a:spcAft>
                <a:spcPts val="600"/>
              </a:spcAft>
            </a:pPr>
            <a:r>
              <a:rPr sz="1350" b="0">
                <a:solidFill>
                  <a:srgbClr val="2D331A"/>
                </a:solidFill>
                <a:latin typeface="Inter"/>
              </a:rPr>
              <a:t>Deep video models speak the brain's language</a:t>
            </a:r>
          </a:p>
          <a:p>
            <a:pPr algn="l">
              <a:lnSpc>
                <a:spcPct val="108000"/>
              </a:lnSpc>
              <a:spcAft>
                <a:spcPts val="600"/>
              </a:spcAft>
            </a:pPr>
            <a:r>
              <a:rPr sz="1050" b="0">
                <a:solidFill>
                  <a:srgbClr val="5B6635"/>
                </a:solidFill>
                <a:latin typeface="Inter"/>
              </a:rPr>
              <a:t>Self-supervised video models and mid-level CNN layers match the early visual response best. Interpretable attributes add nothing on top.</a:t>
            </a:r>
          </a:p>
        </p:txBody>
      </p:sp>
      <p:sp>
        <p:nvSpPr>
          <p:cNvPr id="24" name="Rounded Rectangle 23"/>
          <p:cNvSpPr/>
          <p:nvPr/>
        </p:nvSpPr>
        <p:spPr>
          <a:xfrm>
            <a:off x="4242816" y="3904487"/>
            <a:ext cx="3538728" cy="2057400"/>
          </a:xfrm>
          <a:prstGeom prst="roundRect">
            <a:avLst>
              <a:gd name="adj" fmla="val 8000"/>
            </a:avLst>
          </a:prstGeom>
          <a:solidFill>
            <a:srgbClr val="FFFDF3"/>
          </a:solidFill>
          <a:ln w="12700">
            <a:solidFill>
              <a:srgbClr val="CCD5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242816" y="3904487"/>
            <a:ext cx="91440" cy="2057400"/>
          </a:xfrm>
          <a:prstGeom prst="rect">
            <a:avLst/>
          </a:prstGeom>
          <a:solidFill>
            <a:srgbClr val="644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98848" y="4069079"/>
            <a:ext cx="3081528" cy="457200"/>
          </a:xfrm>
          <a:prstGeom prst="rect">
            <a:avLst/>
          </a:prstGeom>
          <a:noFill/>
        </p:spPr>
        <p:txBody>
          <a:bodyPr wrap="square" lIns="25400" tIns="25400" rIns="25400" bIns="25400" anchor="t">
            <a:spAutoFit/>
          </a:bodyPr>
          <a:lstStyle/>
          <a:p>
            <a:pPr algn="l">
              <a:lnSpc>
                <a:spcPct val="100000"/>
              </a:lnSpc>
              <a:spcAft>
                <a:spcPts val="400"/>
              </a:spcAft>
            </a:pPr>
            <a:r>
              <a:rPr sz="2000" b="0">
                <a:solidFill>
                  <a:srgbClr val="64411F"/>
                </a:solidFill>
                <a:latin typeface="Inter"/>
              </a:rPr>
              <a:t>robust</a:t>
            </a:r>
          </a:p>
        </p:txBody>
      </p:sp>
      <p:sp>
        <p:nvSpPr>
          <p:cNvPr id="27" name="TextBox 26"/>
          <p:cNvSpPr txBox="1"/>
          <p:nvPr/>
        </p:nvSpPr>
        <p:spPr>
          <a:xfrm>
            <a:off x="4498848" y="4562855"/>
            <a:ext cx="3081528" cy="1325880"/>
          </a:xfrm>
          <a:prstGeom prst="rect">
            <a:avLst/>
          </a:prstGeom>
          <a:noFill/>
        </p:spPr>
        <p:txBody>
          <a:bodyPr wrap="square" lIns="25400" tIns="25400" rIns="25400" bIns="25400" anchor="t">
            <a:spAutoFit/>
          </a:bodyPr>
          <a:lstStyle/>
          <a:p>
            <a:pPr algn="l">
              <a:lnSpc>
                <a:spcPct val="108000"/>
              </a:lnSpc>
              <a:spcAft>
                <a:spcPts val="600"/>
              </a:spcAft>
            </a:pPr>
            <a:r>
              <a:rPr sz="1350" b="0">
                <a:solidFill>
                  <a:srgbClr val="2D331A"/>
                </a:solidFill>
                <a:latin typeface="Inter"/>
              </a:rPr>
              <a:t>Robust, not random</a:t>
            </a:r>
          </a:p>
          <a:p>
            <a:pPr algn="l">
              <a:lnSpc>
                <a:spcPct val="108000"/>
              </a:lnSpc>
              <a:spcAft>
                <a:spcPts val="600"/>
              </a:spcAft>
            </a:pPr>
            <a:r>
              <a:rPr sz="1050" b="0">
                <a:solidFill>
                  <a:srgbClr val="5B6635"/>
                </a:solidFill>
                <a:latin typeface="Inter"/>
              </a:rPr>
              <a:t>Same seeds rebuild bit-identically; five new seeds give 34.31 / 67.65 vs 36.03 / 67.16 — within one standard error (≈2.4 pts).</a:t>
            </a:r>
          </a:p>
        </p:txBody>
      </p:sp>
      <p:sp>
        <p:nvSpPr>
          <p:cNvPr id="28" name="Rounded Rectangle 27"/>
          <p:cNvSpPr/>
          <p:nvPr/>
        </p:nvSpPr>
        <p:spPr>
          <a:xfrm>
            <a:off x="7936992" y="3904487"/>
            <a:ext cx="3538728" cy="2057400"/>
          </a:xfrm>
          <a:prstGeom prst="roundRect">
            <a:avLst>
              <a:gd name="adj" fmla="val 8000"/>
            </a:avLst>
          </a:prstGeom>
          <a:solidFill>
            <a:srgbClr val="FFFDF3"/>
          </a:solidFill>
          <a:ln w="12700">
            <a:solidFill>
              <a:srgbClr val="CCD5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936992" y="3904487"/>
            <a:ext cx="91440" cy="2057400"/>
          </a:xfrm>
          <a:prstGeom prst="rect">
            <a:avLst/>
          </a:prstGeom>
          <a:solidFill>
            <a:srgbClr val="889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193023" y="4069079"/>
            <a:ext cx="3081528" cy="457200"/>
          </a:xfrm>
          <a:prstGeom prst="rect">
            <a:avLst/>
          </a:prstGeom>
          <a:noFill/>
        </p:spPr>
        <p:txBody>
          <a:bodyPr wrap="square" lIns="25400" tIns="25400" rIns="25400" bIns="25400" anchor="t">
            <a:spAutoFit/>
          </a:bodyPr>
          <a:lstStyle/>
          <a:p>
            <a:pPr algn="l">
              <a:lnSpc>
                <a:spcPct val="100000"/>
              </a:lnSpc>
              <a:spcAft>
                <a:spcPts val="400"/>
              </a:spcAft>
            </a:pPr>
            <a:r>
              <a:rPr sz="2000" b="0">
                <a:solidFill>
                  <a:srgbClr val="88994F"/>
                </a:solidFill>
                <a:latin typeface="Inter"/>
              </a:rPr>
              <a:t>r = 0.16</a:t>
            </a:r>
          </a:p>
        </p:txBody>
      </p:sp>
      <p:sp>
        <p:nvSpPr>
          <p:cNvPr id="31" name="TextBox 30"/>
          <p:cNvSpPr txBox="1"/>
          <p:nvPr/>
        </p:nvSpPr>
        <p:spPr>
          <a:xfrm>
            <a:off x="8193023" y="4562855"/>
            <a:ext cx="3081528" cy="1325880"/>
          </a:xfrm>
          <a:prstGeom prst="rect">
            <a:avLst/>
          </a:prstGeom>
          <a:noFill/>
        </p:spPr>
        <p:txBody>
          <a:bodyPr wrap="square" lIns="25400" tIns="25400" rIns="25400" bIns="25400" anchor="t">
            <a:spAutoFit/>
          </a:bodyPr>
          <a:lstStyle/>
          <a:p>
            <a:pPr algn="l">
              <a:lnSpc>
                <a:spcPct val="108000"/>
              </a:lnSpc>
              <a:spcAft>
                <a:spcPts val="600"/>
              </a:spcAft>
            </a:pPr>
            <a:r>
              <a:rPr sz="1350" b="0">
                <a:solidFill>
                  <a:srgbClr val="2D331A"/>
                </a:solidFill>
                <a:latin typeface="Inter"/>
              </a:rPr>
              <a:t>Misses are noise, not hard videos</a:t>
            </a:r>
          </a:p>
          <a:p>
            <a:pPr algn="l">
              <a:lnSpc>
                <a:spcPct val="108000"/>
              </a:lnSpc>
              <a:spcAft>
                <a:spcPts val="600"/>
              </a:spcAft>
            </a:pPr>
            <a:r>
              <a:rPr sz="1050" b="0">
                <a:solidFill>
                  <a:srgbClr val="5B6635"/>
                </a:solidFill>
                <a:latin typeface="Inter"/>
              </a:rPr>
              <a:t>Per-video difficulty barely correlates between people. The true video is usually rank 2–5; single-recording noise decides the last step.</a:t>
            </a:r>
          </a:p>
        </p:txBody>
      </p:sp>
      <p:sp>
        <p:nvSpPr>
          <p:cNvPr id="32" name="TextBox 31"/>
          <p:cNvSpPr txBox="1"/>
          <p:nvPr/>
        </p:nvSpPr>
        <p:spPr>
          <a:xfrm>
            <a:off x="548640" y="6428232"/>
            <a:ext cx="8229600" cy="320040"/>
          </a:xfrm>
          <a:prstGeom prst="rect">
            <a:avLst/>
          </a:prstGeom>
          <a:noFill/>
        </p:spPr>
        <p:txBody>
          <a:bodyPr wrap="square" lIns="25400" tIns="25400" rIns="25400" bIns="25400" anchor="t">
            <a:spAutoFit/>
          </a:bodyPr>
          <a:lstStyle/>
          <a:p>
            <a:pPr algn="l">
              <a:lnSpc>
                <a:spcPct val="100000"/>
              </a:lnSpc>
              <a:spcAft>
                <a:spcPts val="400"/>
              </a:spcAft>
            </a:pPr>
            <a:r>
              <a:rPr sz="850" b="1">
                <a:solidFill>
                  <a:srgbClr val="5B6635"/>
                </a:solidFill>
                <a:latin typeface="Inter"/>
              </a:rPr>
              <a:t>NEUROBYTES · EEG-TO-VIDEO RETRIEVAL</a:t>
            </a:r>
          </a:p>
        </p:txBody>
      </p:sp>
      <p:sp>
        <p:nvSpPr>
          <p:cNvPr id="33" name="TextBox 32"/>
          <p:cNvSpPr txBox="1"/>
          <p:nvPr/>
        </p:nvSpPr>
        <p:spPr>
          <a:xfrm>
            <a:off x="10881360" y="6428232"/>
            <a:ext cx="822960" cy="320040"/>
          </a:xfrm>
          <a:prstGeom prst="rect">
            <a:avLst/>
          </a:prstGeom>
          <a:noFill/>
        </p:spPr>
        <p:txBody>
          <a:bodyPr wrap="square" lIns="25400" tIns="25400" rIns="25400" bIns="25400" anchor="t">
            <a:spAutoFit/>
          </a:bodyPr>
          <a:lstStyle/>
          <a:p>
            <a:pPr algn="r">
              <a:lnSpc>
                <a:spcPct val="100000"/>
              </a:lnSpc>
              <a:spcAft>
                <a:spcPts val="400"/>
              </a:spcAft>
            </a:pPr>
            <a:r>
              <a:rPr sz="900" b="1">
                <a:solidFill>
                  <a:srgbClr val="5B6635"/>
                </a:solidFill>
                <a:latin typeface="Inter"/>
              </a:rPr>
              <a:t>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1218</Words>
  <Application>Microsoft Macintosh PowerPoint</Application>
  <PresentationFormat>Widescreen</PresentationFormat>
  <Paragraphs>158</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Arial</vt:lpstr>
      <vt:lpstr>Calibri</vt:lpstr>
      <vt:lpstr>Inter</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SHETTY, Ayush</cp:lastModifiedBy>
  <cp:revision>2</cp:revision>
  <dcterms:created xsi:type="dcterms:W3CDTF">2013-01-27T09:14:16Z</dcterms:created>
  <dcterms:modified xsi:type="dcterms:W3CDTF">2026-10-18T16:45:42Z</dcterms:modified>
  <cp:category/>
</cp:coreProperties>
</file>